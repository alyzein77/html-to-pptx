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Inter"/>
      <p:regular r:id="rId201314"/>
    </p:embeddedFont>
    <p:embeddedFont>
      <p:font typeface="Noto Naskh Arabic"/>
      <p:bold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118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 TO PRODUCT · 16 SEP 2026</a:t>
            </a:r>
            <a:endParaRPr lang="en-US" sz="825" dirty="0"/>
          </a:p>
        </p:txBody>
      </p:sp>
      <p:sp>
        <p:nvSpPr>
          <p:cNvPr id="14" name="TextBox 18"/>
          <p:cNvSpPr/>
          <p:nvPr/>
        </p:nvSpPr>
        <p:spPr>
          <a:xfrm>
            <a:off x="571500" y="1905000"/>
            <a:ext cx="8001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spc="-11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handing off screens</a:t>
            </a:r>
            <a:endParaRPr lang="en-US" sz="42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4200" b="1" spc="-112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owning the outcome.</a:t>
            </a:r>
            <a:endParaRPr lang="en-US" sz="4200" dirty="0"/>
          </a:p>
        </p:txBody>
      </p:sp>
      <p:sp>
        <p:nvSpPr>
          <p:cNvPr id="15" name="TextBox 20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 · THE WEEK MOST DESIGNERS KNOW</a:t>
            </a:r>
            <a:endParaRPr lang="en-US" sz="825" dirty="0"/>
          </a:p>
        </p:txBody>
      </p:sp>
      <p:sp>
        <p:nvSpPr>
          <p:cNvPr id="14" name="TextBox 18"/>
          <p:cNvSpPr/>
          <p:nvPr/>
        </p:nvSpPr>
        <p:spPr>
          <a:xfrm>
            <a:off x="571500" y="1285875"/>
            <a:ext cx="7143750" cy="72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75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design it. Someone else decides if it worked.</a:t>
            </a:r>
            <a:endParaRPr lang="en-US" sz="2700" dirty="0"/>
          </a:p>
        </p:txBody>
      </p:sp>
      <p:sp>
        <p:nvSpPr>
          <p:cNvPr id="15" name="Shape 22"/>
          <p:cNvSpPr/>
          <p:nvPr/>
        </p:nvSpPr>
        <p:spPr>
          <a:xfrm>
            <a:off x="571500" y="2286000"/>
            <a:ext cx="1447800" cy="589508"/>
          </a:xfrm>
          <a:prstGeom prst="rect">
            <a:avLst/>
          </a:prstGeom>
          <a:noFill/>
          <a:ln/>
        </p:spPr>
      </p:sp>
      <p:pic>
        <p:nvPicPr>
          <p:cNvPr id="16" name="Picture 2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2286000"/>
            <a:ext cx="1447800" cy="589508"/>
          </a:xfrm>
          <a:prstGeom prst="rect">
            <a:avLst/>
          </a:prstGeom>
        </p:spPr>
      </p:pic>
      <p:sp>
        <p:nvSpPr>
          <p:cNvPr id="17" name="TextBox 23"/>
          <p:cNvSpPr/>
          <p:nvPr/>
        </p:nvSpPr>
        <p:spPr>
          <a:xfrm>
            <a:off x="571500" y="2405062"/>
            <a:ext cx="1447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13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</a:t>
            </a:r>
            <a:endParaRPr lang="en-US" sz="750" dirty="0"/>
          </a:p>
        </p:txBody>
      </p:sp>
      <p:sp>
        <p:nvSpPr>
          <p:cNvPr id="18" name="TextBox 24"/>
          <p:cNvSpPr/>
          <p:nvPr/>
        </p:nvSpPr>
        <p:spPr>
          <a:xfrm>
            <a:off x="571500" y="2571750"/>
            <a:ext cx="1434108" cy="292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brief lands. The problem is already decided for you.</a:t>
            </a:r>
            <a:endParaRPr lang="en-US" sz="900" dirty="0"/>
          </a:p>
        </p:txBody>
      </p:sp>
      <p:sp>
        <p:nvSpPr>
          <p:cNvPr id="19" name="Shape 26"/>
          <p:cNvSpPr/>
          <p:nvPr/>
        </p:nvSpPr>
        <p:spPr>
          <a:xfrm>
            <a:off x="2171700" y="2286000"/>
            <a:ext cx="1447800" cy="589508"/>
          </a:xfrm>
          <a:prstGeom prst="rect">
            <a:avLst/>
          </a:prstGeom>
          <a:noFill/>
          <a:ln/>
        </p:spPr>
      </p:sp>
      <p:pic>
        <p:nvPicPr>
          <p:cNvPr id="20" name="Picture 26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1700" y="2286000"/>
            <a:ext cx="1447800" cy="589508"/>
          </a:xfrm>
          <a:prstGeom prst="rect">
            <a:avLst/>
          </a:prstGeom>
        </p:spPr>
      </p:pic>
      <p:sp>
        <p:nvSpPr>
          <p:cNvPr id="21" name="TextBox 27"/>
          <p:cNvSpPr/>
          <p:nvPr/>
        </p:nvSpPr>
        <p:spPr>
          <a:xfrm>
            <a:off x="2171700" y="2405062"/>
            <a:ext cx="1447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13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TUESDAY</a:t>
            </a:r>
            <a:endParaRPr lang="en-US" sz="750" dirty="0"/>
          </a:p>
        </p:txBody>
      </p:sp>
      <p:sp>
        <p:nvSpPr>
          <p:cNvPr id="22" name="TextBox 28"/>
          <p:cNvSpPr/>
          <p:nvPr/>
        </p:nvSpPr>
        <p:spPr>
          <a:xfrm>
            <a:off x="2171700" y="2571750"/>
            <a:ext cx="1409849" cy="292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 in Figma. Flows, states, the design system.</a:t>
            </a:r>
            <a:endParaRPr lang="en-US" sz="900" dirty="0"/>
          </a:p>
        </p:txBody>
      </p:sp>
      <p:sp>
        <p:nvSpPr>
          <p:cNvPr id="23" name="Shape 30"/>
          <p:cNvSpPr/>
          <p:nvPr/>
        </p:nvSpPr>
        <p:spPr>
          <a:xfrm>
            <a:off x="3771900" y="2286000"/>
            <a:ext cx="1447800" cy="589508"/>
          </a:xfrm>
          <a:prstGeom prst="rect">
            <a:avLst/>
          </a:prstGeom>
          <a:noFill/>
          <a:ln/>
        </p:spPr>
      </p:sp>
      <p:pic>
        <p:nvPicPr>
          <p:cNvPr id="24" name="Picture 30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71900" y="2286000"/>
            <a:ext cx="1447800" cy="589508"/>
          </a:xfrm>
          <a:prstGeom prst="rect">
            <a:avLst/>
          </a:prstGeom>
        </p:spPr>
      </p:pic>
      <p:sp>
        <p:nvSpPr>
          <p:cNvPr id="25" name="TextBox 31"/>
          <p:cNvSpPr/>
          <p:nvPr/>
        </p:nvSpPr>
        <p:spPr>
          <a:xfrm>
            <a:off x="3771900" y="2405062"/>
            <a:ext cx="1447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13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WEDNESDAY</a:t>
            </a:r>
            <a:endParaRPr lang="en-US" sz="750" dirty="0"/>
          </a:p>
        </p:txBody>
      </p:sp>
      <p:sp>
        <p:nvSpPr>
          <p:cNvPr id="26" name="TextBox 32"/>
          <p:cNvSpPr/>
          <p:nvPr/>
        </p:nvSpPr>
        <p:spPr>
          <a:xfrm>
            <a:off x="3771900" y="2571750"/>
            <a:ext cx="1158180" cy="292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Review. Opinions, not evidence.</a:t>
            </a:r>
            <a:endParaRPr lang="en-US" sz="900" dirty="0"/>
          </a:p>
        </p:txBody>
      </p:sp>
      <p:sp>
        <p:nvSpPr>
          <p:cNvPr id="27" name="Shape 34"/>
          <p:cNvSpPr/>
          <p:nvPr/>
        </p:nvSpPr>
        <p:spPr>
          <a:xfrm>
            <a:off x="5372100" y="2286000"/>
            <a:ext cx="1447800" cy="589508"/>
          </a:xfrm>
          <a:prstGeom prst="rect">
            <a:avLst/>
          </a:prstGeom>
          <a:noFill/>
          <a:ln/>
        </p:spPr>
      </p:sp>
      <p:pic>
        <p:nvPicPr>
          <p:cNvPr id="28" name="Picture 34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72100" y="2286000"/>
            <a:ext cx="1447800" cy="589508"/>
          </a:xfrm>
          <a:prstGeom prst="rect">
            <a:avLst/>
          </a:prstGeom>
        </p:spPr>
      </p:pic>
      <p:sp>
        <p:nvSpPr>
          <p:cNvPr id="29" name="TextBox 35"/>
          <p:cNvSpPr/>
          <p:nvPr/>
        </p:nvSpPr>
        <p:spPr>
          <a:xfrm>
            <a:off x="5372100" y="2405062"/>
            <a:ext cx="1447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13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THURSDAY</a:t>
            </a:r>
            <a:endParaRPr lang="en-US" sz="750" dirty="0"/>
          </a:p>
        </p:txBody>
      </p:sp>
      <p:sp>
        <p:nvSpPr>
          <p:cNvPr id="30" name="TextBox 36"/>
          <p:cNvSpPr/>
          <p:nvPr/>
        </p:nvSpPr>
        <p:spPr>
          <a:xfrm>
            <a:off x="5372100" y="2571750"/>
            <a:ext cx="1330077" cy="292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Hand-off. The file leaves your hands.</a:t>
            </a:r>
            <a:endParaRPr lang="en-US" sz="900" dirty="0"/>
          </a:p>
        </p:txBody>
      </p:sp>
      <p:sp>
        <p:nvSpPr>
          <p:cNvPr id="31" name="Shape 38"/>
          <p:cNvSpPr/>
          <p:nvPr/>
        </p:nvSpPr>
        <p:spPr>
          <a:xfrm>
            <a:off x="6972300" y="2286000"/>
            <a:ext cx="1447800" cy="589508"/>
          </a:xfrm>
          <a:prstGeom prst="rect">
            <a:avLst/>
          </a:prstGeom>
          <a:noFill/>
          <a:ln/>
        </p:spPr>
      </p:sp>
      <p:pic>
        <p:nvPicPr>
          <p:cNvPr id="32" name="Picture 38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72300" y="2286000"/>
            <a:ext cx="1447800" cy="589508"/>
          </a:xfrm>
          <a:prstGeom prst="rect">
            <a:avLst/>
          </a:prstGeom>
        </p:spPr>
      </p:pic>
      <p:sp>
        <p:nvSpPr>
          <p:cNvPr id="33" name="TextBox 39"/>
          <p:cNvSpPr/>
          <p:nvPr/>
        </p:nvSpPr>
        <p:spPr>
          <a:xfrm>
            <a:off x="6972300" y="2405062"/>
            <a:ext cx="1447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13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LATER</a:t>
            </a:r>
            <a:endParaRPr lang="en-US" sz="750" dirty="0"/>
          </a:p>
        </p:txBody>
      </p:sp>
      <p:sp>
        <p:nvSpPr>
          <p:cNvPr id="34" name="TextBox 40"/>
          <p:cNvSpPr/>
          <p:nvPr/>
        </p:nvSpPr>
        <p:spPr>
          <a:xfrm>
            <a:off x="6972300" y="2571750"/>
            <a:ext cx="1273448" cy="292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ships 80% right. You never see the numbers.</a:t>
            </a:r>
            <a:endParaRPr lang="en-US" sz="900" dirty="0"/>
          </a:p>
        </p:txBody>
      </p:sp>
      <p:sp>
        <p:nvSpPr>
          <p:cNvPr id="35" name="TextBox 43"/>
          <p:cNvSpPr/>
          <p:nvPr/>
        </p:nvSpPr>
        <p:spPr>
          <a:xfrm>
            <a:off x="571500" y="3905250"/>
            <a:ext cx="6667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of this is bad design. It's a design role that stops at the file.</a:t>
            </a:r>
            <a:endParaRPr lang="en-US" sz="1125" dirty="0"/>
          </a:p>
        </p:txBody>
      </p:sp>
      <p:sp>
        <p:nvSpPr>
          <p:cNvPr id="36" name="TextBox 45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FD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2 · WHAT'S CHANGING</a:t>
            </a:r>
            <a:endParaRPr lang="en-US" sz="825" dirty="0"/>
          </a:p>
        </p:txBody>
      </p:sp>
      <p:sp>
        <p:nvSpPr>
          <p:cNvPr id="14" name="TextBox 18"/>
          <p:cNvSpPr/>
          <p:nvPr/>
        </p:nvSpPr>
        <p:spPr>
          <a:xfrm>
            <a:off x="571500" y="1285875"/>
            <a:ext cx="7143750" cy="72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75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Companies now want one person who carries the screen and the result.</a:t>
            </a:r>
            <a:endParaRPr lang="en-US" sz="2700" dirty="0"/>
          </a:p>
        </p:txBody>
      </p:sp>
      <p:pic>
        <p:nvPicPr>
          <p:cNvPr id="15" name="Picture 2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2381250"/>
            <a:ext cx="1049685" cy="347663"/>
          </a:xfrm>
          <a:prstGeom prst="rect">
            <a:avLst/>
          </a:prstGeom>
        </p:spPr>
      </p:pic>
      <p:sp>
        <p:nvSpPr>
          <p:cNvPr id="16" name="TextBox 24"/>
          <p:cNvSpPr/>
          <p:nvPr/>
        </p:nvSpPr>
        <p:spPr>
          <a:xfrm>
            <a:off x="571500" y="2381250"/>
            <a:ext cx="1049685" cy="347663"/>
          </a:xfrm>
          <a:prstGeom prst="rect">
            <a:avLst/>
          </a:prstGeom>
          <a:solidFill>
            <a:srgbClr val="6D28FF"/>
          </a:solidFill>
          <a:ln/>
        </p:spPr>
        <p:txBody>
          <a:bodyPr wrap="square" lIns="85725" tIns="104775" rIns="85725" bIns="104775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900" dirty="0"/>
          </a:p>
        </p:txBody>
      </p:sp>
      <p:pic>
        <p:nvPicPr>
          <p:cNvPr id="17" name="Picture 26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1185" y="2381250"/>
            <a:ext cx="1049610" cy="347663"/>
          </a:xfrm>
          <a:prstGeom prst="rect">
            <a:avLst/>
          </a:prstGeom>
        </p:spPr>
      </p:pic>
      <p:sp>
        <p:nvSpPr>
          <p:cNvPr id="18" name="TextBox 26"/>
          <p:cNvSpPr/>
          <p:nvPr/>
        </p:nvSpPr>
        <p:spPr>
          <a:xfrm>
            <a:off x="1621185" y="2381250"/>
            <a:ext cx="1049610" cy="347663"/>
          </a:xfrm>
          <a:prstGeom prst="rect">
            <a:avLst/>
          </a:prstGeom>
          <a:solidFill>
            <a:srgbClr val="6D28FF"/>
          </a:solidFill>
          <a:ln/>
        </p:spPr>
        <p:txBody>
          <a:bodyPr wrap="square" lIns="85725" tIns="104775" rIns="85725" bIns="104775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flow</a:t>
            </a:r>
            <a:endParaRPr lang="en-US" sz="900" dirty="0"/>
          </a:p>
        </p:txBody>
      </p:sp>
      <p:pic>
        <p:nvPicPr>
          <p:cNvPr id="19" name="Picture 28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70795" y="2381250"/>
            <a:ext cx="1049685" cy="347663"/>
          </a:xfrm>
          <a:prstGeom prst="rect">
            <a:avLst/>
          </a:prstGeom>
        </p:spPr>
      </p:pic>
      <p:sp>
        <p:nvSpPr>
          <p:cNvPr id="20" name="TextBox 28"/>
          <p:cNvSpPr/>
          <p:nvPr/>
        </p:nvSpPr>
        <p:spPr>
          <a:xfrm>
            <a:off x="2670795" y="2381250"/>
            <a:ext cx="1049685" cy="347663"/>
          </a:xfrm>
          <a:prstGeom prst="rect">
            <a:avLst/>
          </a:prstGeom>
          <a:solidFill>
            <a:srgbClr val="6D28FF"/>
          </a:solidFill>
          <a:ln/>
        </p:spPr>
        <p:txBody>
          <a:bodyPr wrap="square" lIns="85725" tIns="104775" rIns="85725" bIns="104775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build</a:t>
            </a:r>
            <a:endParaRPr lang="en-US" sz="900" dirty="0"/>
          </a:p>
        </p:txBody>
      </p:sp>
      <p:pic>
        <p:nvPicPr>
          <p:cNvPr id="21" name="Picture 30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20480" y="2381250"/>
            <a:ext cx="1049610" cy="347663"/>
          </a:xfrm>
          <a:prstGeom prst="rect">
            <a:avLst/>
          </a:prstGeom>
        </p:spPr>
      </p:pic>
      <p:sp>
        <p:nvSpPr>
          <p:cNvPr id="22" name="TextBox 30"/>
          <p:cNvSpPr/>
          <p:nvPr/>
        </p:nvSpPr>
        <p:spPr>
          <a:xfrm>
            <a:off x="3720480" y="2381250"/>
            <a:ext cx="1049610" cy="347663"/>
          </a:xfrm>
          <a:prstGeom prst="rect">
            <a:avLst/>
          </a:prstGeom>
          <a:solidFill>
            <a:srgbClr val="6D28FF"/>
          </a:solidFill>
          <a:ln/>
        </p:spPr>
        <p:txBody>
          <a:bodyPr wrap="square" lIns="85725" tIns="104775" rIns="85725" bIns="104775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numbers</a:t>
            </a:r>
            <a:endParaRPr lang="en-US" sz="900" dirty="0"/>
          </a:p>
        </p:txBody>
      </p:sp>
      <p:sp>
        <p:nvSpPr>
          <p:cNvPr id="23" name="TextBox 32"/>
          <p:cNvSpPr/>
          <p:nvPr/>
        </p:nvSpPr>
        <p:spPr>
          <a:xfrm>
            <a:off x="4770090" y="2381250"/>
            <a:ext cx="1040160" cy="347663"/>
          </a:xfrm>
          <a:prstGeom prst="rect">
            <a:avLst/>
          </a:prstGeom>
          <a:solidFill>
            <a:srgbClr val="6D28FF"/>
          </a:solidFill>
          <a:ln/>
        </p:spPr>
        <p:txBody>
          <a:bodyPr wrap="square" lIns="85725" tIns="104775" rIns="85725" bIns="104775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trade-offs</a:t>
            </a:r>
            <a:endParaRPr lang="en-US" sz="900" dirty="0"/>
          </a:p>
        </p:txBody>
      </p:sp>
      <p:sp>
        <p:nvSpPr>
          <p:cNvPr id="24" name="Shape 35"/>
          <p:cNvSpPr/>
          <p:nvPr/>
        </p:nvSpPr>
        <p:spPr>
          <a:xfrm>
            <a:off x="571500" y="2743200"/>
            <a:ext cx="2000250" cy="1714500"/>
          </a:xfrm>
          <a:prstGeom prst="rect">
            <a:avLst/>
          </a:prstGeom>
          <a:solidFill>
            <a:srgbClr val="0A0118"/>
          </a:solidFill>
          <a:ln/>
        </p:spPr>
      </p:sp>
      <p:pic>
        <p:nvPicPr>
          <p:cNvPr id="25" name="Picture 37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1500" y="2743200"/>
            <a:ext cx="2000250" cy="285750"/>
          </a:xfrm>
          <a:prstGeom prst="rect">
            <a:avLst/>
          </a:prstGeom>
        </p:spPr>
      </p:pic>
      <p:sp>
        <p:nvSpPr>
          <p:cNvPr id="26" name="TextBox 37"/>
          <p:cNvSpPr/>
          <p:nvPr/>
        </p:nvSpPr>
        <p:spPr>
          <a:xfrm>
            <a:off x="571500" y="2743200"/>
            <a:ext cx="2000250" cy="285750"/>
          </a:xfrm>
          <a:prstGeom prst="rect">
            <a:avLst/>
          </a:prstGeom>
          <a:noFill/>
          <a:ln/>
        </p:spPr>
        <p:txBody>
          <a:bodyPr wrap="square" lIns="95250" tIns="76200" rIns="95250" bIns="76200" rtlCol="0" anchor="t">
            <a:sp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Talking to users</a:t>
            </a:r>
            <a:endParaRPr lang="en-US" sz="825" dirty="0"/>
          </a:p>
        </p:txBody>
      </p:sp>
      <p:pic>
        <p:nvPicPr>
          <p:cNvPr id="27" name="Picture 39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71500" y="3028950"/>
            <a:ext cx="2000250" cy="285750"/>
          </a:xfrm>
          <a:prstGeom prst="rect">
            <a:avLst/>
          </a:prstGeom>
        </p:spPr>
      </p:pic>
      <p:sp>
        <p:nvSpPr>
          <p:cNvPr id="28" name="TextBox 39"/>
          <p:cNvSpPr/>
          <p:nvPr/>
        </p:nvSpPr>
        <p:spPr>
          <a:xfrm>
            <a:off x="571500" y="3028950"/>
            <a:ext cx="2000250" cy="285750"/>
          </a:xfrm>
          <a:prstGeom prst="rect">
            <a:avLst/>
          </a:prstGeom>
          <a:noFill/>
          <a:ln/>
        </p:spPr>
        <p:txBody>
          <a:bodyPr wrap="square" lIns="95250" tIns="76200" rIns="95250" bIns="76200" rtlCol="0" anchor="t">
            <a:sp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with real people</a:t>
            </a:r>
            <a:endParaRPr lang="en-US" sz="825" dirty="0"/>
          </a:p>
        </p:txBody>
      </p:sp>
      <p:pic>
        <p:nvPicPr>
          <p:cNvPr id="29" name="Picture 41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71500" y="3314700"/>
            <a:ext cx="2000250" cy="285750"/>
          </a:xfrm>
          <a:prstGeom prst="rect">
            <a:avLst/>
          </a:prstGeom>
        </p:spPr>
      </p:pic>
      <p:sp>
        <p:nvSpPr>
          <p:cNvPr id="30" name="TextBox 41"/>
          <p:cNvSpPr/>
          <p:nvPr/>
        </p:nvSpPr>
        <p:spPr>
          <a:xfrm>
            <a:off x="571500" y="3314700"/>
            <a:ext cx="2000250" cy="285750"/>
          </a:xfrm>
          <a:prstGeom prst="rect">
            <a:avLst/>
          </a:prstGeom>
          <a:noFill/>
          <a:ln/>
        </p:spPr>
        <p:txBody>
          <a:bodyPr wrap="square" lIns="95250" tIns="76200" rIns="95250" bIns="76200" rtlCol="0" anchor="t">
            <a:sp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Taste</a:t>
            </a:r>
            <a:endParaRPr lang="en-US" sz="825" dirty="0"/>
          </a:p>
        </p:txBody>
      </p:sp>
      <p:pic>
        <p:nvPicPr>
          <p:cNvPr id="31" name="Picture 43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1500" y="3600450"/>
            <a:ext cx="2000250" cy="285750"/>
          </a:xfrm>
          <a:prstGeom prst="rect">
            <a:avLst/>
          </a:prstGeom>
        </p:spPr>
      </p:pic>
      <p:sp>
        <p:nvSpPr>
          <p:cNvPr id="32" name="TextBox 43"/>
          <p:cNvSpPr/>
          <p:nvPr/>
        </p:nvSpPr>
        <p:spPr>
          <a:xfrm>
            <a:off x="571500" y="3600450"/>
            <a:ext cx="2000250" cy="285750"/>
          </a:xfrm>
          <a:prstGeom prst="rect">
            <a:avLst/>
          </a:prstGeom>
          <a:noFill/>
          <a:ln/>
        </p:spPr>
        <p:txBody>
          <a:bodyPr wrap="square" lIns="95250" tIns="76200" rIns="95250" bIns="76200" rtlCol="0" anchor="t">
            <a:sp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findings into insight</a:t>
            </a:r>
            <a:endParaRPr lang="en-US" sz="825" dirty="0"/>
          </a:p>
        </p:txBody>
      </p:sp>
      <p:pic>
        <p:nvPicPr>
          <p:cNvPr id="33" name="Picture 45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71500" y="3886200"/>
            <a:ext cx="2000250" cy="285750"/>
          </a:xfrm>
          <a:prstGeom prst="rect">
            <a:avLst/>
          </a:prstGeom>
        </p:spPr>
      </p:pic>
      <p:sp>
        <p:nvSpPr>
          <p:cNvPr id="34" name="TextBox 45"/>
          <p:cNvSpPr/>
          <p:nvPr/>
        </p:nvSpPr>
        <p:spPr>
          <a:xfrm>
            <a:off x="571500" y="3886200"/>
            <a:ext cx="2000250" cy="285750"/>
          </a:xfrm>
          <a:prstGeom prst="rect">
            <a:avLst/>
          </a:prstGeom>
          <a:noFill/>
          <a:ln/>
        </p:spPr>
        <p:txBody>
          <a:bodyPr wrap="square" lIns="95250" tIns="76200" rIns="95250" bIns="76200" rtlCol="0" anchor="t">
            <a:sp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for everyone</a:t>
            </a:r>
            <a:endParaRPr lang="en-US" sz="825" dirty="0"/>
          </a:p>
        </p:txBody>
      </p:sp>
      <p:pic>
        <p:nvPicPr>
          <p:cNvPr id="35" name="Picture 47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1500" y="4171950"/>
            <a:ext cx="2000250" cy="285750"/>
          </a:xfrm>
          <a:prstGeom prst="rect">
            <a:avLst/>
          </a:prstGeom>
        </p:spPr>
      </p:pic>
      <p:sp>
        <p:nvSpPr>
          <p:cNvPr id="36" name="TextBox 47"/>
          <p:cNvSpPr/>
          <p:nvPr/>
        </p:nvSpPr>
        <p:spPr>
          <a:xfrm>
            <a:off x="571500" y="4171950"/>
            <a:ext cx="2000250" cy="285750"/>
          </a:xfrm>
          <a:prstGeom prst="rect">
            <a:avLst/>
          </a:prstGeom>
          <a:noFill/>
          <a:ln/>
        </p:spPr>
        <p:txBody>
          <a:bodyPr wrap="square" lIns="95250" tIns="76200" rIns="95250" bIns="76200" rtlCol="0" anchor="t">
            <a:sp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Ethics and trust</a:t>
            </a:r>
            <a:endParaRPr lang="en-US" sz="825" dirty="0"/>
          </a:p>
        </p:txBody>
      </p:sp>
      <p:sp>
        <p:nvSpPr>
          <p:cNvPr id="37" name="TextBox 50"/>
          <p:cNvSpPr/>
          <p:nvPr/>
        </p:nvSpPr>
        <p:spPr>
          <a:xfrm>
            <a:off x="2857500" y="2857500"/>
            <a:ext cx="4762500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top bar used to need a product manager, a developer and an analyst. AI makes it affordable for one designer to carry. The stem stays deep and stays human. That's the T-shaped designer.</a:t>
            </a:r>
            <a:endParaRPr lang="en-US" sz="1050" dirty="0"/>
          </a:p>
        </p:txBody>
      </p:sp>
      <p:sp>
        <p:nvSpPr>
          <p:cNvPr id="38" name="TextBox 52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WE GO ON · TO BE FAIR</a:t>
            </a:r>
            <a:endParaRPr lang="en-US" sz="825" dirty="0"/>
          </a:p>
        </p:txBody>
      </p:sp>
      <p:sp>
        <p:nvSpPr>
          <p:cNvPr id="14" name="TextBox 18"/>
          <p:cNvSpPr/>
          <p:nvPr/>
        </p:nvSpPr>
        <p:spPr>
          <a:xfrm>
            <a:off x="571500" y="1285875"/>
            <a:ext cx="7143750" cy="72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75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Figma is still alive. In most companies, it stays.</a:t>
            </a:r>
            <a:endParaRPr lang="en-US" sz="2700" dirty="0"/>
          </a:p>
        </p:txBody>
      </p:sp>
      <p:sp>
        <p:nvSpPr>
          <p:cNvPr id="15" name="Shape 22"/>
          <p:cNvSpPr/>
          <p:nvPr/>
        </p:nvSpPr>
        <p:spPr>
          <a:xfrm>
            <a:off x="571500" y="2381250"/>
            <a:ext cx="1847850" cy="658118"/>
          </a:xfrm>
          <a:prstGeom prst="rect">
            <a:avLst/>
          </a:prstGeom>
          <a:noFill/>
          <a:ln/>
        </p:spPr>
      </p:sp>
      <p:pic>
        <p:nvPicPr>
          <p:cNvPr id="16" name="Picture 2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2381250"/>
            <a:ext cx="1847850" cy="658118"/>
          </a:xfrm>
          <a:prstGeom prst="rect">
            <a:avLst/>
          </a:prstGeom>
        </p:spPr>
      </p:pic>
      <p:sp>
        <p:nvSpPr>
          <p:cNvPr id="17" name="TextBox 23"/>
          <p:cNvSpPr/>
          <p:nvPr/>
        </p:nvSpPr>
        <p:spPr>
          <a:xfrm>
            <a:off x="571500" y="2500313"/>
            <a:ext cx="1847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 design teams</a:t>
            </a:r>
            <a:endParaRPr lang="en-US" sz="1125" dirty="0"/>
          </a:p>
        </p:txBody>
      </p:sp>
      <p:sp>
        <p:nvSpPr>
          <p:cNvPr id="18" name="TextBox 24"/>
          <p:cNvSpPr/>
          <p:nvPr/>
        </p:nvSpPr>
        <p:spPr>
          <a:xfrm>
            <a:off x="571500" y="2719388"/>
            <a:ext cx="18478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designers on one live canvas. Nothing beats it.</a:t>
            </a:r>
            <a:endParaRPr lang="en-US" sz="900" dirty="0"/>
          </a:p>
        </p:txBody>
      </p:sp>
      <p:sp>
        <p:nvSpPr>
          <p:cNvPr id="19" name="Shape 26"/>
          <p:cNvSpPr/>
          <p:nvPr/>
        </p:nvSpPr>
        <p:spPr>
          <a:xfrm>
            <a:off x="2571750" y="2381250"/>
            <a:ext cx="1847850" cy="658118"/>
          </a:xfrm>
          <a:prstGeom prst="rect">
            <a:avLst/>
          </a:prstGeom>
          <a:noFill/>
          <a:ln/>
        </p:spPr>
      </p:sp>
      <p:pic>
        <p:nvPicPr>
          <p:cNvPr id="20" name="Picture 26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1750" y="2381250"/>
            <a:ext cx="1847850" cy="658118"/>
          </a:xfrm>
          <a:prstGeom prst="rect">
            <a:avLst/>
          </a:prstGeom>
        </p:spPr>
      </p:pic>
      <p:sp>
        <p:nvSpPr>
          <p:cNvPr id="21" name="TextBox 27"/>
          <p:cNvSpPr/>
          <p:nvPr/>
        </p:nvSpPr>
        <p:spPr>
          <a:xfrm>
            <a:off x="2571750" y="2500313"/>
            <a:ext cx="1847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libraries</a:t>
            </a:r>
            <a:endParaRPr lang="en-US" sz="1125" dirty="0"/>
          </a:p>
        </p:txBody>
      </p:sp>
      <p:sp>
        <p:nvSpPr>
          <p:cNvPr id="22" name="TextBox 28"/>
          <p:cNvSpPr/>
          <p:nvPr/>
        </p:nvSpPr>
        <p:spPr>
          <a:xfrm>
            <a:off x="2571750" y="2719388"/>
            <a:ext cx="18478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system governed across many products.</a:t>
            </a:r>
            <a:endParaRPr lang="en-US" sz="900" dirty="0"/>
          </a:p>
        </p:txBody>
      </p:sp>
      <p:sp>
        <p:nvSpPr>
          <p:cNvPr id="23" name="Shape 30"/>
          <p:cNvSpPr/>
          <p:nvPr/>
        </p:nvSpPr>
        <p:spPr>
          <a:xfrm>
            <a:off x="4572000" y="2381250"/>
            <a:ext cx="1847850" cy="658118"/>
          </a:xfrm>
          <a:prstGeom prst="rect">
            <a:avLst/>
          </a:prstGeom>
          <a:noFill/>
          <a:ln/>
        </p:spPr>
      </p:sp>
      <p:pic>
        <p:nvPicPr>
          <p:cNvPr id="24" name="Picture 30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2381250"/>
            <a:ext cx="1847850" cy="658118"/>
          </a:xfrm>
          <a:prstGeom prst="rect">
            <a:avLst/>
          </a:prstGeom>
        </p:spPr>
      </p:pic>
      <p:sp>
        <p:nvSpPr>
          <p:cNvPr id="25" name="TextBox 31"/>
          <p:cNvSpPr/>
          <p:nvPr/>
        </p:nvSpPr>
        <p:spPr>
          <a:xfrm>
            <a:off x="4572000" y="2500313"/>
            <a:ext cx="1847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Separate engineering</a:t>
            </a:r>
            <a:endParaRPr lang="en-US" sz="1125" dirty="0"/>
          </a:p>
        </p:txBody>
      </p:sp>
      <p:sp>
        <p:nvSpPr>
          <p:cNvPr id="26" name="TextBox 32"/>
          <p:cNvSpPr/>
          <p:nvPr/>
        </p:nvSpPr>
        <p:spPr>
          <a:xfrm>
            <a:off x="4572000" y="2719388"/>
            <a:ext cx="18478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hand-off is how the organisation works.</a:t>
            </a:r>
            <a:endParaRPr lang="en-US" sz="900" dirty="0"/>
          </a:p>
        </p:txBody>
      </p:sp>
      <p:sp>
        <p:nvSpPr>
          <p:cNvPr id="27" name="Shape 34"/>
          <p:cNvSpPr/>
          <p:nvPr/>
        </p:nvSpPr>
        <p:spPr>
          <a:xfrm>
            <a:off x="6572250" y="2381250"/>
            <a:ext cx="1847850" cy="658118"/>
          </a:xfrm>
          <a:prstGeom prst="rect">
            <a:avLst/>
          </a:prstGeom>
          <a:noFill/>
          <a:ln/>
        </p:spPr>
      </p:sp>
      <p:pic>
        <p:nvPicPr>
          <p:cNvPr id="28" name="Picture 34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2250" y="2381250"/>
            <a:ext cx="1847850" cy="658118"/>
          </a:xfrm>
          <a:prstGeom prst="rect">
            <a:avLst/>
          </a:prstGeom>
        </p:spPr>
      </p:pic>
      <p:sp>
        <p:nvSpPr>
          <p:cNvPr id="29" name="TextBox 35"/>
          <p:cNvSpPr/>
          <p:nvPr/>
        </p:nvSpPr>
        <p:spPr>
          <a:xfrm>
            <a:off x="6572250" y="2500313"/>
            <a:ext cx="1847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 craft</a:t>
            </a:r>
            <a:endParaRPr lang="en-US" sz="1125" dirty="0"/>
          </a:p>
        </p:txBody>
      </p:sp>
      <p:sp>
        <p:nvSpPr>
          <p:cNvPr id="30" name="TextBox 36"/>
          <p:cNvSpPr/>
          <p:nvPr/>
        </p:nvSpPr>
        <p:spPr>
          <a:xfrm>
            <a:off x="6572250" y="2719388"/>
            <a:ext cx="184785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Illustration and pushing pixels by eye.</a:t>
            </a:r>
            <a:endParaRPr lang="en-US" sz="900" dirty="0"/>
          </a:p>
        </p:txBody>
      </p:sp>
      <p:sp>
        <p:nvSpPr>
          <p:cNvPr id="31" name="TextBox 39"/>
          <p:cNvSpPr/>
          <p:nvPr/>
        </p:nvSpPr>
        <p:spPr>
          <a:xfrm>
            <a:off x="571500" y="3810000"/>
            <a:ext cx="666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moved is not the tool. It's where the truth lives. For a small team, what you design can be what ships.</a:t>
            </a:r>
            <a:endParaRPr lang="en-US" sz="1125" dirty="0"/>
          </a:p>
        </p:txBody>
      </p:sp>
      <p:sp>
        <p:nvSpPr>
          <p:cNvPr id="32" name="TextBox 41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118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3 · THE CASE</a:t>
            </a:r>
            <a:endParaRPr lang="en-US" sz="825" dirty="0"/>
          </a:p>
        </p:txBody>
      </p:sp>
      <p:sp>
        <p:nvSpPr>
          <p:cNvPr id="14" name="TextBox 18"/>
          <p:cNvSpPr/>
          <p:nvPr/>
        </p:nvSpPr>
        <p:spPr>
          <a:xfrm>
            <a:off x="571500" y="1285875"/>
            <a:ext cx="7143750" cy="72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7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brief with no designer and no developer on it.</a:t>
            </a:r>
            <a:endParaRPr lang="en-US" sz="2700" dirty="0"/>
          </a:p>
        </p:txBody>
      </p:sp>
      <p:sp>
        <p:nvSpPr>
          <p:cNvPr id="15" name="TextBox 23"/>
          <p:cNvSpPr/>
          <p:nvPr/>
        </p:nvSpPr>
        <p:spPr>
          <a:xfrm>
            <a:off x="571500" y="2476500"/>
            <a:ext cx="3619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716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BRIEF</a:t>
            </a:r>
            <a:endParaRPr lang="en-US" sz="750" dirty="0"/>
          </a:p>
        </p:txBody>
      </p:sp>
      <p:sp>
        <p:nvSpPr>
          <p:cNvPr id="16" name="TextBox 24"/>
          <p:cNvSpPr/>
          <p:nvPr/>
        </p:nvSpPr>
        <p:spPr>
          <a:xfrm>
            <a:off x="571500" y="2667000"/>
            <a:ext cx="36195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Explain a service you can't see, company memory, to a busy founder in Egypt or the Gulf. In English and in Egyptian Arabic. Get them to take the first step.</a:t>
            </a:r>
            <a:endParaRPr lang="en-US" sz="1125" dirty="0"/>
          </a:p>
        </p:txBody>
      </p:sp>
      <p:sp>
        <p:nvSpPr>
          <p:cNvPr id="17" name="TextBox 27"/>
          <p:cNvSpPr/>
          <p:nvPr/>
        </p:nvSpPr>
        <p:spPr>
          <a:xfrm>
            <a:off x="4572000" y="2476500"/>
            <a:ext cx="3619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716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</a:t>
            </a:r>
            <a:endParaRPr lang="en-US" sz="750" dirty="0"/>
          </a:p>
        </p:txBody>
      </p:sp>
      <p:sp>
        <p:nvSpPr>
          <p:cNvPr id="18" name="TextBox 28"/>
          <p:cNvSpPr/>
          <p:nvPr/>
        </p:nvSpPr>
        <p:spPr>
          <a:xfrm>
            <a:off x="4572000" y="2667000"/>
            <a:ext cx="36195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product person and Claude. The site is athr21.com, and everything that follows happened on it.</a:t>
            </a:r>
            <a:endParaRPr lang="en-US" sz="1125" dirty="0"/>
          </a:p>
        </p:txBody>
      </p:sp>
      <p:sp>
        <p:nvSpPr>
          <p:cNvPr id="19" name="TextBox 31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4 · UNDERSTAND · WHO WALKS IN</a:t>
            </a:r>
            <a:endParaRPr lang="en-US" sz="825" dirty="0"/>
          </a:p>
        </p:txBody>
      </p:sp>
      <p:sp>
        <p:nvSpPr>
          <p:cNvPr id="14" name="TextBox 18"/>
          <p:cNvSpPr/>
          <p:nvPr/>
        </p:nvSpPr>
        <p:spPr>
          <a:xfrm>
            <a:off x="571500" y="1285875"/>
            <a:ext cx="7143750" cy="363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75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the person, not the page.</a:t>
            </a:r>
            <a:endParaRPr lang="en-US" sz="2700" dirty="0"/>
          </a:p>
        </p:txBody>
      </p:sp>
      <p:sp>
        <p:nvSpPr>
          <p:cNvPr id="15" name="Shape 20"/>
          <p:cNvSpPr/>
          <p:nvPr/>
        </p:nvSpPr>
        <p:spPr>
          <a:xfrm>
            <a:off x="571500" y="2190750"/>
            <a:ext cx="8001000" cy="1470571"/>
          </a:xfrm>
          <a:prstGeom prst="rect">
            <a:avLst/>
          </a:prstGeom>
          <a:solidFill>
            <a:srgbClr val="F7F4FD"/>
          </a:solidFill>
          <a:ln/>
        </p:spPr>
      </p:sp>
      <p:sp>
        <p:nvSpPr>
          <p:cNvPr id="16" name="TextBox 22"/>
          <p:cNvSpPr/>
          <p:nvPr/>
        </p:nvSpPr>
        <p:spPr>
          <a:xfrm>
            <a:off x="762000" y="2381250"/>
            <a:ext cx="523875" cy="523875"/>
          </a:xfrm>
          <a:prstGeom prst="rect">
            <a:avLst/>
          </a:prstGeom>
          <a:solidFill>
            <a:srgbClr val="6D28FF"/>
          </a:solidFill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125"/>
              </a:lnSpc>
              <a:buNone/>
            </a:pPr>
            <a:r>
              <a:rPr lang="en-US" sz="1950" b="1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</a:t>
            </a:r>
            <a:endParaRPr lang="en-US" sz="1950" dirty="0"/>
          </a:p>
        </p:txBody>
      </p:sp>
      <p:sp>
        <p:nvSpPr>
          <p:cNvPr id="17" name="TextBox 26"/>
          <p:cNvSpPr/>
          <p:nvPr/>
        </p:nvSpPr>
        <p:spPr>
          <a:xfrm>
            <a:off x="1457325" y="2381250"/>
            <a:ext cx="666750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founder whose company outgrew their head</a:t>
            </a:r>
            <a:endParaRPr lang="en-US" sz="1200" dirty="0"/>
          </a:p>
        </p:txBody>
      </p:sp>
      <p:sp>
        <p:nvSpPr>
          <p:cNvPr id="18" name="TextBox 28"/>
          <p:cNvSpPr/>
          <p:nvPr/>
        </p:nvSpPr>
        <p:spPr>
          <a:xfrm>
            <a:off x="1457325" y="2633662"/>
            <a:ext cx="666750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 to 250 people. Arrives because something broke: a key person left, a second country opened, the same argument keeps coming back.</a:t>
            </a:r>
            <a:endParaRPr lang="en-US" sz="975" dirty="0"/>
          </a:p>
        </p:txBody>
      </p:sp>
      <p:sp>
        <p:nvSpPr>
          <p:cNvPr id="19" name="TextBox 30"/>
          <p:cNvSpPr/>
          <p:nvPr/>
        </p:nvSpPr>
        <p:spPr>
          <a:xfrm>
            <a:off x="1457325" y="3085058"/>
            <a:ext cx="1721048" cy="31908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F0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A4160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"What do I actually get?"</a:t>
            </a:r>
            <a:endParaRPr lang="en-US" sz="975" dirty="0"/>
          </a:p>
        </p:txBody>
      </p:sp>
      <p:sp>
        <p:nvSpPr>
          <p:cNvPr id="20" name="TextBox 31"/>
          <p:cNvSpPr/>
          <p:nvPr/>
        </p:nvSpPr>
        <p:spPr>
          <a:xfrm>
            <a:off x="3245048" y="3085058"/>
            <a:ext cx="1707431" cy="31908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F0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A4160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"How long does it take?"</a:t>
            </a:r>
            <a:endParaRPr lang="en-US" sz="975" dirty="0"/>
          </a:p>
        </p:txBody>
      </p:sp>
      <p:sp>
        <p:nvSpPr>
          <p:cNvPr id="21" name="TextBox 32"/>
          <p:cNvSpPr/>
          <p:nvPr/>
        </p:nvSpPr>
        <p:spPr>
          <a:xfrm>
            <a:off x="5019154" y="3085058"/>
            <a:ext cx="1639788" cy="319088"/>
          </a:xfrm>
          <a:prstGeom prst="rect">
            <a:avLst/>
          </a:prstGeom>
          <a:solidFill>
            <a:srgbClr val="FFFFFF"/>
          </a:solidFill>
          <a:ln w="9525">
            <a:solidFill>
              <a:srgbClr val="E6E0F0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A4160"/>
                </a:solidFill>
                <a:highlight>
                  <a:srgbClr val="FFFF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"What's the first step?"</a:t>
            </a:r>
            <a:endParaRPr lang="en-US" sz="975" dirty="0"/>
          </a:p>
        </p:txBody>
      </p:sp>
      <p:sp>
        <p:nvSpPr>
          <p:cNvPr id="22" name="TextBox 36"/>
          <p:cNvSpPr/>
          <p:nvPr/>
        </p:nvSpPr>
        <p:spPr>
          <a:xfrm>
            <a:off x="571500" y="4000500"/>
            <a:ext cx="6667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screen after this has one job: answer those three questions in that order.</a:t>
            </a:r>
            <a:endParaRPr lang="en-US" sz="1125" dirty="0"/>
          </a:p>
        </p:txBody>
      </p:sp>
      <p:sp>
        <p:nvSpPr>
          <p:cNvPr id="23" name="TextBox 38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FD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5 · CRITIQUE · A PANEL BEFORE ANY USER</a:t>
            </a:r>
            <a:endParaRPr lang="en-US" sz="825" dirty="0"/>
          </a:p>
        </p:txBody>
      </p:sp>
      <p:sp>
        <p:nvSpPr>
          <p:cNvPr id="14" name="TextBox 18"/>
          <p:cNvSpPr/>
          <p:nvPr/>
        </p:nvSpPr>
        <p:spPr>
          <a:xfrm>
            <a:off x="571500" y="1285875"/>
            <a:ext cx="7143750" cy="72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75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panel caught what we were too close to see.</a:t>
            </a:r>
            <a:endParaRPr lang="en-US" sz="2700" dirty="0"/>
          </a:p>
        </p:txBody>
      </p:sp>
      <p:sp>
        <p:nvSpPr>
          <p:cNvPr id="15" name="TextBox 23"/>
          <p:cNvSpPr/>
          <p:nvPr/>
        </p:nvSpPr>
        <p:spPr>
          <a:xfrm>
            <a:off x="571500" y="2047875"/>
            <a:ext cx="33337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716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endParaRPr lang="en-US" sz="750" dirty="0"/>
          </a:p>
        </p:txBody>
      </p:sp>
      <p:sp>
        <p:nvSpPr>
          <p:cNvPr id="16" name="Shape 25"/>
          <p:cNvSpPr/>
          <p:nvPr/>
        </p:nvSpPr>
        <p:spPr>
          <a:xfrm>
            <a:off x="571500" y="2238375"/>
            <a:ext cx="2333625" cy="1676400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4288">
            <a:solidFill>
              <a:srgbClr val="0A0118"/>
            </a:solidFill>
            <a:prstDash val="solid"/>
          </a:ln>
        </p:spPr>
      </p:sp>
      <p:sp>
        <p:nvSpPr>
          <p:cNvPr id="17" name="TextBox 26"/>
          <p:cNvSpPr/>
          <p:nvPr/>
        </p:nvSpPr>
        <p:spPr>
          <a:xfrm>
            <a:off x="690562" y="2376487"/>
            <a:ext cx="2095500" cy="257175"/>
          </a:xfrm>
          <a:prstGeom prst="roundRect">
            <a:avLst>
              <a:gd name="adj" fmla="val 11111"/>
            </a:avLst>
          </a:prstGeom>
          <a:solidFill>
            <a:srgbClr val="EDE7FA"/>
          </a:solidFill>
          <a:ln w="14288">
            <a:solidFill>
              <a:srgbClr val="6D28FF"/>
            </a:solidFill>
            <a:prstDash val="dash"/>
          </a:ln>
        </p:spPr>
        <p:txBody>
          <a:bodyPr wrap="square" lIns="76200" tIns="57150" rIns="76200" bIns="5715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your AI: Claude · ChatGPT · Manus</a:t>
            </a:r>
            <a:endParaRPr lang="en-US" sz="750" dirty="0"/>
          </a:p>
        </p:txBody>
      </p:sp>
      <p:sp>
        <p:nvSpPr>
          <p:cNvPr id="18" name="TextBox 27"/>
          <p:cNvSpPr/>
          <p:nvPr/>
        </p:nvSpPr>
        <p:spPr>
          <a:xfrm>
            <a:off x="690562" y="2690812"/>
            <a:ext cx="2095500" cy="228600"/>
          </a:xfrm>
          <a:prstGeom prst="roundRect">
            <a:avLst>
              <a:gd name="adj" fmla="val 12500"/>
            </a:avLst>
          </a:prstGeom>
          <a:solidFill>
            <a:srgbClr val="EDE7FA"/>
          </a:solidFill>
          <a:ln/>
        </p:spPr>
        <p:txBody>
          <a:bodyPr wrap="square" lIns="76200" tIns="57150" rIns="76200" bIns="5715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services</a:t>
            </a:r>
            <a:endParaRPr lang="en-US" sz="750" dirty="0"/>
          </a:p>
        </p:txBody>
      </p:sp>
      <p:sp>
        <p:nvSpPr>
          <p:cNvPr id="19" name="TextBox 28"/>
          <p:cNvSpPr/>
          <p:nvPr/>
        </p:nvSpPr>
        <p:spPr>
          <a:xfrm>
            <a:off x="690562" y="2976562"/>
            <a:ext cx="2095500" cy="228600"/>
          </a:xfrm>
          <a:prstGeom prst="roundRect">
            <a:avLst>
              <a:gd name="adj" fmla="val 12500"/>
            </a:avLst>
          </a:prstGeom>
          <a:solidFill>
            <a:srgbClr val="EDE7FA"/>
          </a:solidFill>
          <a:ln/>
        </p:spPr>
        <p:txBody>
          <a:bodyPr wrap="square" lIns="76200" tIns="57150" rIns="76200" bIns="5715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Check</a:t>
            </a:r>
            <a:endParaRPr lang="en-US" sz="750" dirty="0"/>
          </a:p>
        </p:txBody>
      </p:sp>
      <p:sp>
        <p:nvSpPr>
          <p:cNvPr id="20" name="TextBox 29"/>
          <p:cNvSpPr/>
          <p:nvPr/>
        </p:nvSpPr>
        <p:spPr>
          <a:xfrm>
            <a:off x="690562" y="3262312"/>
            <a:ext cx="2095500" cy="228600"/>
          </a:xfrm>
          <a:prstGeom prst="roundRect">
            <a:avLst>
              <a:gd name="adj" fmla="val 12500"/>
            </a:avLst>
          </a:prstGeom>
          <a:solidFill>
            <a:srgbClr val="0A0118"/>
          </a:solidFill>
          <a:ln/>
        </p:spPr>
        <p:txBody>
          <a:bodyPr wrap="square" lIns="76200" tIns="57150" rIns="76200" bIns="5715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750" dirty="0"/>
          </a:p>
        </p:txBody>
      </p:sp>
      <p:sp>
        <p:nvSpPr>
          <p:cNvPr id="21" name="TextBox 30"/>
          <p:cNvSpPr/>
          <p:nvPr/>
        </p:nvSpPr>
        <p:spPr>
          <a:xfrm>
            <a:off x="690562" y="3548062"/>
            <a:ext cx="2095500" cy="228600"/>
          </a:xfrm>
          <a:prstGeom prst="roundRect">
            <a:avLst>
              <a:gd name="adj" fmla="val 12500"/>
            </a:avLst>
          </a:prstGeom>
          <a:solidFill>
            <a:srgbClr val="0A0118"/>
          </a:solidFill>
          <a:ln/>
        </p:spPr>
        <p:txBody>
          <a:bodyPr wrap="square" lIns="76200" tIns="57150" rIns="76200" bIns="5715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</a:t>
            </a:r>
            <a:endParaRPr lang="en-US" sz="750" dirty="0"/>
          </a:p>
        </p:txBody>
      </p:sp>
      <p:sp>
        <p:nvSpPr>
          <p:cNvPr id="22" name="TextBox 32"/>
          <p:cNvSpPr/>
          <p:nvPr/>
        </p:nvSpPr>
        <p:spPr>
          <a:xfrm>
            <a:off x="571500" y="4000500"/>
            <a:ext cx="3048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Visitors met tool choices before knowing what they'd buy. Two buttons fought for the same tap.</a:t>
            </a:r>
            <a:endParaRPr lang="en-US" sz="900" dirty="0"/>
          </a:p>
        </p:txBody>
      </p:sp>
      <p:sp>
        <p:nvSpPr>
          <p:cNvPr id="23" name="TextBox 35"/>
          <p:cNvSpPr/>
          <p:nvPr/>
        </p:nvSpPr>
        <p:spPr>
          <a:xfrm>
            <a:off x="4476750" y="2047875"/>
            <a:ext cx="33337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716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endParaRPr lang="en-US" sz="750" dirty="0"/>
          </a:p>
        </p:txBody>
      </p:sp>
      <p:sp>
        <p:nvSpPr>
          <p:cNvPr id="24" name="Shape 37"/>
          <p:cNvSpPr/>
          <p:nvPr/>
        </p:nvSpPr>
        <p:spPr>
          <a:xfrm>
            <a:off x="4476750" y="2238375"/>
            <a:ext cx="2333625" cy="1362075"/>
          </a:xfrm>
          <a:prstGeom prst="roundRect">
            <a:avLst>
              <a:gd name="adj" fmla="val 9790"/>
            </a:avLst>
          </a:prstGeom>
          <a:solidFill>
            <a:srgbClr val="FFFFFF"/>
          </a:solidFill>
          <a:ln w="14288">
            <a:solidFill>
              <a:srgbClr val="0A0118"/>
            </a:solidFill>
            <a:prstDash val="solid"/>
          </a:ln>
        </p:spPr>
      </p:sp>
      <p:sp>
        <p:nvSpPr>
          <p:cNvPr id="25" name="TextBox 38"/>
          <p:cNvSpPr/>
          <p:nvPr/>
        </p:nvSpPr>
        <p:spPr>
          <a:xfrm>
            <a:off x="4595813" y="2376487"/>
            <a:ext cx="2095500" cy="228600"/>
          </a:xfrm>
          <a:prstGeom prst="roundRect">
            <a:avLst>
              <a:gd name="adj" fmla="val 12500"/>
            </a:avLst>
          </a:prstGeom>
          <a:solidFill>
            <a:srgbClr val="EDE7FA"/>
          </a:solidFill>
          <a:ln/>
        </p:spPr>
        <p:txBody>
          <a:bodyPr wrap="square" lIns="76200" tIns="57150" rIns="76200" bIns="5715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company outgrew your head</a:t>
            </a:r>
            <a:endParaRPr lang="en-US" sz="750" dirty="0"/>
          </a:p>
        </p:txBody>
      </p:sp>
      <p:sp>
        <p:nvSpPr>
          <p:cNvPr id="26" name="TextBox 39"/>
          <p:cNvSpPr/>
          <p:nvPr/>
        </p:nvSpPr>
        <p:spPr>
          <a:xfrm>
            <a:off x="4595813" y="2662237"/>
            <a:ext cx="2095500" cy="228600"/>
          </a:xfrm>
          <a:prstGeom prst="roundRect">
            <a:avLst>
              <a:gd name="adj" fmla="val 12500"/>
            </a:avLst>
          </a:prstGeom>
          <a:solidFill>
            <a:srgbClr val="6D28FF"/>
          </a:solidFill>
          <a:ln/>
        </p:spPr>
        <p:txBody>
          <a:bodyPr wrap="square" lIns="76200" tIns="57150" rIns="76200" bIns="5715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Check: 2 to 3 weeks, a map you keep</a:t>
            </a:r>
            <a:endParaRPr lang="en-US" sz="750" dirty="0"/>
          </a:p>
        </p:txBody>
      </p:sp>
      <p:sp>
        <p:nvSpPr>
          <p:cNvPr id="27" name="TextBox 40"/>
          <p:cNvSpPr/>
          <p:nvPr/>
        </p:nvSpPr>
        <p:spPr>
          <a:xfrm>
            <a:off x="4595813" y="2947987"/>
            <a:ext cx="2095500" cy="228600"/>
          </a:xfrm>
          <a:prstGeom prst="roundRect">
            <a:avLst>
              <a:gd name="adj" fmla="val 12500"/>
            </a:avLst>
          </a:prstGeom>
          <a:solidFill>
            <a:srgbClr val="EDE7FA"/>
          </a:solidFill>
          <a:ln/>
        </p:spPr>
        <p:txBody>
          <a:bodyPr wrap="square" lIns="76200" tIns="57150" rIns="76200" bIns="5715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 choose a track, if you want one</a:t>
            </a:r>
            <a:endParaRPr lang="en-US" sz="750" dirty="0"/>
          </a:p>
        </p:txBody>
      </p:sp>
      <p:sp>
        <p:nvSpPr>
          <p:cNvPr id="28" name="TextBox 41"/>
          <p:cNvSpPr/>
          <p:nvPr/>
        </p:nvSpPr>
        <p:spPr>
          <a:xfrm>
            <a:off x="4595813" y="3233737"/>
            <a:ext cx="2095500" cy="228600"/>
          </a:xfrm>
          <a:prstGeom prst="roundRect">
            <a:avLst>
              <a:gd name="adj" fmla="val 12500"/>
            </a:avLst>
          </a:prstGeom>
          <a:solidFill>
            <a:srgbClr val="0A0118"/>
          </a:solidFill>
          <a:ln/>
        </p:spPr>
        <p:txBody>
          <a:bodyPr wrap="square" lIns="76200" tIns="57150" rIns="76200" bIns="5715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5 questions</a:t>
            </a:r>
            <a:endParaRPr lang="en-US" sz="750" dirty="0"/>
          </a:p>
        </p:txBody>
      </p:sp>
      <p:sp>
        <p:nvSpPr>
          <p:cNvPr id="29" name="TextBox 43"/>
          <p:cNvSpPr/>
          <p:nvPr/>
        </p:nvSpPr>
        <p:spPr>
          <a:xfrm>
            <a:off x="4476750" y="3686175"/>
            <a:ext cx="30480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first, then the first step, then the options. One action per view.</a:t>
            </a:r>
            <a:endParaRPr lang="en-US" sz="900" dirty="0"/>
          </a:p>
        </p:txBody>
      </p:sp>
      <p:sp>
        <p:nvSpPr>
          <p:cNvPr id="30" name="TextBox 46"/>
          <p:cNvSpPr/>
          <p:nvPr/>
        </p:nvSpPr>
        <p:spPr>
          <a:xfrm>
            <a:off x="571500" y="4572000"/>
            <a:ext cx="7620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16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reviewer panel of UX, brand and accessibility seats, run with Claude on 8 Sep. Sketches, not screenshots. Shipped the next day.</a:t>
            </a:r>
            <a:endParaRPr lang="en-US" sz="750" dirty="0"/>
          </a:p>
        </p:txBody>
      </p:sp>
      <p:sp>
        <p:nvSpPr>
          <p:cNvPr id="31" name="TextBox 48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6 · PROTOTYPE · DESIGN IN THE REAL THING</a:t>
            </a:r>
            <a:endParaRPr lang="en-US" sz="825" dirty="0"/>
          </a:p>
        </p:txBody>
      </p:sp>
      <p:sp>
        <p:nvSpPr>
          <p:cNvPr id="14" name="TextBox 18"/>
          <p:cNvSpPr/>
          <p:nvPr/>
        </p:nvSpPr>
        <p:spPr>
          <a:xfrm>
            <a:off x="571500" y="1285875"/>
            <a:ext cx="7143750" cy="363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75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looked right in the file. It broke in the hand.</a:t>
            </a:r>
            <a:endParaRPr lang="en-US" sz="2700" dirty="0"/>
          </a:p>
        </p:txBody>
      </p:sp>
      <p:sp>
        <p:nvSpPr>
          <p:cNvPr id="15" name="TextBox 20"/>
          <p:cNvSpPr/>
          <p:nvPr/>
        </p:nvSpPr>
        <p:spPr>
          <a:xfrm>
            <a:off x="571500" y="2238375"/>
            <a:ext cx="666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illustration went through seven review rounds on real screens. Five of the seven problems could not be seen in the design file.</a:t>
            </a:r>
            <a:endParaRPr lang="en-US" sz="1125" dirty="0"/>
          </a:p>
        </p:txBody>
      </p:sp>
      <p:sp>
        <p:nvSpPr>
          <p:cNvPr id="16" name="TextBox 24"/>
          <p:cNvSpPr/>
          <p:nvPr/>
        </p:nvSpPr>
        <p:spPr>
          <a:xfrm>
            <a:off x="571500" y="2952750"/>
            <a:ext cx="1487686" cy="319088"/>
          </a:xfrm>
          <a:prstGeom prst="rect">
            <a:avLst/>
          </a:prstGeom>
          <a:solidFill>
            <a:srgbClr val="6D28FF"/>
          </a:solidFill>
          <a:ln w="9525">
            <a:solidFill>
              <a:srgbClr val="6D28FF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BE5FF"/>
                </a:solidFill>
                <a:highlight>
                  <a:srgbClr val="6D28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Groups had no labels</a:t>
            </a:r>
            <a:endParaRPr lang="en-US" sz="975" dirty="0"/>
          </a:p>
        </p:txBody>
      </p:sp>
      <p:sp>
        <p:nvSpPr>
          <p:cNvPr id="17" name="TextBox 25"/>
          <p:cNvSpPr/>
          <p:nvPr/>
        </p:nvSpPr>
        <p:spPr>
          <a:xfrm>
            <a:off x="2125861" y="2952750"/>
            <a:ext cx="2138065" cy="319088"/>
          </a:xfrm>
          <a:prstGeom prst="rect">
            <a:avLst/>
          </a:prstGeom>
          <a:solidFill>
            <a:srgbClr val="6D28FF"/>
          </a:solidFill>
          <a:ln w="9525">
            <a:solidFill>
              <a:srgbClr val="6D28FF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BE5FF"/>
                </a:solidFill>
                <a:highlight>
                  <a:srgbClr val="6D28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Lines contradicted the message</a:t>
            </a:r>
            <a:endParaRPr lang="en-US" sz="975" dirty="0"/>
          </a:p>
        </p:txBody>
      </p:sp>
      <p:sp>
        <p:nvSpPr>
          <p:cNvPr id="18" name="TextBox 26"/>
          <p:cNvSpPr/>
          <p:nvPr/>
        </p:nvSpPr>
        <p:spPr>
          <a:xfrm>
            <a:off x="4330601" y="2952750"/>
            <a:ext cx="2198340" cy="319088"/>
          </a:xfrm>
          <a:prstGeom prst="rect">
            <a:avLst/>
          </a:prstGeom>
          <a:solidFill>
            <a:srgbClr val="6D28FF"/>
          </a:solidFill>
          <a:ln w="9525">
            <a:solidFill>
              <a:srgbClr val="6D28FF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BE5FF"/>
                </a:solidFill>
                <a:highlight>
                  <a:srgbClr val="6D28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Labels floated away from shapes</a:t>
            </a:r>
            <a:endParaRPr lang="en-US" sz="975" dirty="0"/>
          </a:p>
        </p:txBody>
      </p:sp>
      <p:sp>
        <p:nvSpPr>
          <p:cNvPr id="19" name="TextBox 27"/>
          <p:cNvSpPr/>
          <p:nvPr/>
        </p:nvSpPr>
        <p:spPr>
          <a:xfrm>
            <a:off x="6595616" y="2952750"/>
            <a:ext cx="1668587" cy="319088"/>
          </a:xfrm>
          <a:prstGeom prst="rect">
            <a:avLst/>
          </a:prstGeom>
          <a:solidFill>
            <a:srgbClr val="6D28FF"/>
          </a:solidFill>
          <a:ln w="9525">
            <a:solidFill>
              <a:srgbClr val="6D28FF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BE5FF"/>
                </a:solidFill>
                <a:highlight>
                  <a:srgbClr val="6D28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Logo too small to matter</a:t>
            </a:r>
            <a:endParaRPr lang="en-US" sz="975" dirty="0"/>
          </a:p>
        </p:txBody>
      </p:sp>
      <p:sp>
        <p:nvSpPr>
          <p:cNvPr id="20" name="TextBox 28"/>
          <p:cNvSpPr/>
          <p:nvPr/>
        </p:nvSpPr>
        <p:spPr>
          <a:xfrm>
            <a:off x="571500" y="3338513"/>
            <a:ext cx="1723802" cy="319088"/>
          </a:xfrm>
          <a:prstGeom prst="rect">
            <a:avLst/>
          </a:prstGeom>
          <a:solidFill>
            <a:srgbClr val="6D28FF"/>
          </a:solidFill>
          <a:ln w="9525">
            <a:solidFill>
              <a:srgbClr val="6D28FF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BE5FF"/>
                </a:solidFill>
                <a:highlight>
                  <a:srgbClr val="6D28F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Arabic page didn't mirror</a:t>
            </a:r>
            <a:endParaRPr lang="en-US" sz="975" dirty="0"/>
          </a:p>
        </p:txBody>
      </p:sp>
      <p:sp>
        <p:nvSpPr>
          <p:cNvPr id="21" name="TextBox 29"/>
          <p:cNvSpPr/>
          <p:nvPr/>
        </p:nvSpPr>
        <p:spPr>
          <a:xfrm>
            <a:off x="2361977" y="3338513"/>
            <a:ext cx="1612032" cy="319088"/>
          </a:xfrm>
          <a:prstGeom prst="rect">
            <a:avLst/>
          </a:prstGeom>
          <a:noFill/>
          <a:ln w="9525">
            <a:solidFill>
              <a:srgbClr val="E6E0F0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Unreadable on a phone</a:t>
            </a:r>
            <a:endParaRPr lang="en-US" sz="975" dirty="0"/>
          </a:p>
        </p:txBody>
      </p:sp>
      <p:sp>
        <p:nvSpPr>
          <p:cNvPr id="22" name="TextBox 30"/>
          <p:cNvSpPr/>
          <p:nvPr/>
        </p:nvSpPr>
        <p:spPr>
          <a:xfrm>
            <a:off x="4040684" y="3338513"/>
            <a:ext cx="1850603" cy="319088"/>
          </a:xfrm>
          <a:prstGeom prst="rect">
            <a:avLst/>
          </a:prstGeom>
          <a:noFill/>
          <a:ln w="9525">
            <a:solidFill>
              <a:srgbClr val="E6E0F0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letters spaced apart</a:t>
            </a:r>
            <a:endParaRPr lang="en-US" sz="975" dirty="0"/>
          </a:p>
        </p:txBody>
      </p:sp>
      <p:sp>
        <p:nvSpPr>
          <p:cNvPr id="23" name="TextBox 35"/>
          <p:cNvSpPr/>
          <p:nvPr/>
        </p:nvSpPr>
        <p:spPr>
          <a:xfrm>
            <a:off x="695325" y="4572000"/>
            <a:ext cx="19367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716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visible once rendered on a real screen</a:t>
            </a:r>
            <a:endParaRPr lang="en-US" sz="750" dirty="0"/>
          </a:p>
        </p:txBody>
      </p:sp>
      <p:sp>
        <p:nvSpPr>
          <p:cNvPr id="24" name="Shape 34"/>
          <p:cNvSpPr/>
          <p:nvPr/>
        </p:nvSpPr>
        <p:spPr>
          <a:xfrm>
            <a:off x="571500" y="4586287"/>
            <a:ext cx="76200" cy="76200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25" name="TextBox 37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FD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7 · A SECOND LANGUAGE IS A SECOND USER</a:t>
            </a:r>
            <a:endParaRPr lang="en-US" sz="825" dirty="0"/>
          </a:p>
        </p:txBody>
      </p:sp>
      <p:sp>
        <p:nvSpPr>
          <p:cNvPr id="14" name="TextBox 18"/>
          <p:cNvSpPr/>
          <p:nvPr/>
        </p:nvSpPr>
        <p:spPr>
          <a:xfrm>
            <a:off x="571500" y="1285875"/>
            <a:ext cx="7143750" cy="72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75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 is not a translation. It's a mirror, with rules.</a:t>
            </a:r>
            <a:endParaRPr lang="en-US" sz="2700" dirty="0"/>
          </a:p>
        </p:txBody>
      </p:sp>
      <p:sp>
        <p:nvSpPr>
          <p:cNvPr id="15" name="TextBox 23"/>
          <p:cNvSpPr/>
          <p:nvPr/>
        </p:nvSpPr>
        <p:spPr>
          <a:xfrm>
            <a:off x="571500" y="2095500"/>
            <a:ext cx="33337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716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</a:t>
            </a:r>
            <a:endParaRPr lang="en-US" sz="750" dirty="0"/>
          </a:p>
        </p:txBody>
      </p:sp>
      <p:sp>
        <p:nvSpPr>
          <p:cNvPr id="16" name="Shape 24"/>
          <p:cNvSpPr/>
          <p:nvPr/>
        </p:nvSpPr>
        <p:spPr>
          <a:xfrm>
            <a:off x="571500" y="2286000"/>
            <a:ext cx="2333625" cy="790575"/>
          </a:xfrm>
          <a:prstGeom prst="roundRect">
            <a:avLst>
              <a:gd name="adj" fmla="val 16867"/>
            </a:avLst>
          </a:prstGeom>
          <a:solidFill>
            <a:srgbClr val="FFFFFF"/>
          </a:solidFill>
          <a:ln w="14288">
            <a:solidFill>
              <a:srgbClr val="0A0118"/>
            </a:solidFill>
            <a:prstDash val="solid"/>
          </a:ln>
        </p:spPr>
      </p:sp>
      <p:sp>
        <p:nvSpPr>
          <p:cNvPr id="17" name="TextBox 25"/>
          <p:cNvSpPr/>
          <p:nvPr/>
        </p:nvSpPr>
        <p:spPr>
          <a:xfrm>
            <a:off x="690562" y="2424113"/>
            <a:ext cx="2095500" cy="228600"/>
          </a:xfrm>
          <a:prstGeom prst="roundRect">
            <a:avLst>
              <a:gd name="adj" fmla="val 12500"/>
            </a:avLst>
          </a:prstGeom>
          <a:solidFill>
            <a:srgbClr val="EDE7FA"/>
          </a:solidFill>
          <a:ln/>
        </p:spPr>
        <p:txBody>
          <a:bodyPr wrap="square" lIns="76200" tIns="57150" rIns="76200" bIns="5715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this way →</a:t>
            </a:r>
            <a:endParaRPr lang="en-US" sz="750" dirty="0"/>
          </a:p>
        </p:txBody>
      </p:sp>
      <p:sp>
        <p:nvSpPr>
          <p:cNvPr id="18" name="TextBox 26"/>
          <p:cNvSpPr/>
          <p:nvPr/>
        </p:nvSpPr>
        <p:spPr>
          <a:xfrm>
            <a:off x="690562" y="2709863"/>
            <a:ext cx="2095500" cy="228600"/>
          </a:xfrm>
          <a:prstGeom prst="roundRect">
            <a:avLst>
              <a:gd name="adj" fmla="val 12500"/>
            </a:avLst>
          </a:prstGeom>
          <a:solidFill>
            <a:srgbClr val="EDE7FA"/>
          </a:solidFill>
          <a:ln/>
        </p:spPr>
        <p:txBody>
          <a:bodyPr wrap="square" lIns="76200" tIns="57150" rIns="76200" bIns="5715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stays</a:t>
            </a:r>
            <a:endParaRPr lang="en-US" sz="750" dirty="0"/>
          </a:p>
        </p:txBody>
      </p:sp>
      <p:sp>
        <p:nvSpPr>
          <p:cNvPr id="19" name="TextBox 29"/>
          <p:cNvSpPr/>
          <p:nvPr/>
        </p:nvSpPr>
        <p:spPr>
          <a:xfrm>
            <a:off x="4476750" y="2095500"/>
            <a:ext cx="3333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1658D"/>
                </a:solidFill>
                <a:latin typeface="Noto Naskh Arabic" pitchFamily="34" charset="0"/>
                <a:ea typeface="Noto Naskh Arabic" pitchFamily="34" charset="-122"/>
                <a:cs typeface="Noto Naskh Arabic" pitchFamily="34" charset="-120"/>
              </a:rPr>
              <a:t>مصري</a:t>
            </a:r>
            <a:endParaRPr lang="en-US" sz="975" dirty="0"/>
          </a:p>
        </p:txBody>
      </p:sp>
      <p:sp>
        <p:nvSpPr>
          <p:cNvPr id="20" name="Shape 30"/>
          <p:cNvSpPr/>
          <p:nvPr/>
        </p:nvSpPr>
        <p:spPr>
          <a:xfrm>
            <a:off x="4476750" y="2381250"/>
            <a:ext cx="2333625" cy="790575"/>
          </a:xfrm>
          <a:prstGeom prst="roundRect">
            <a:avLst>
              <a:gd name="adj" fmla="val 16867"/>
            </a:avLst>
          </a:prstGeom>
          <a:solidFill>
            <a:srgbClr val="FFFFFF"/>
          </a:solidFill>
          <a:ln w="14288">
            <a:solidFill>
              <a:srgbClr val="0A0118"/>
            </a:solidFill>
            <a:prstDash val="solid"/>
          </a:ln>
        </p:spPr>
      </p:sp>
      <p:sp>
        <p:nvSpPr>
          <p:cNvPr id="21" name="TextBox 31"/>
          <p:cNvSpPr/>
          <p:nvPr/>
        </p:nvSpPr>
        <p:spPr>
          <a:xfrm>
            <a:off x="4595813" y="2519362"/>
            <a:ext cx="2095500" cy="228600"/>
          </a:xfrm>
          <a:prstGeom prst="roundRect">
            <a:avLst>
              <a:gd name="adj" fmla="val 12500"/>
            </a:avLst>
          </a:prstGeom>
          <a:solidFill>
            <a:srgbClr val="EDE7FA"/>
          </a:solidFill>
          <a:ln/>
        </p:spPr>
        <p:txBody>
          <a:bodyPr wrap="square" lIns="76200" tIns="57150" rIns="76200" bIns="57150" rtlCol="0" anchor="t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 reads this way</a:t>
            </a:r>
            <a:endParaRPr lang="en-US" sz="750" dirty="0"/>
          </a:p>
        </p:txBody>
      </p:sp>
      <p:sp>
        <p:nvSpPr>
          <p:cNvPr id="22" name="TextBox 32"/>
          <p:cNvSpPr/>
          <p:nvPr/>
        </p:nvSpPr>
        <p:spPr>
          <a:xfrm>
            <a:off x="4595813" y="2805112"/>
            <a:ext cx="2095500" cy="228600"/>
          </a:xfrm>
          <a:prstGeom prst="roundRect">
            <a:avLst>
              <a:gd name="adj" fmla="val 12500"/>
            </a:avLst>
          </a:prstGeom>
          <a:solidFill>
            <a:srgbClr val="EDE7FA"/>
          </a:solidFill>
          <a:ln/>
        </p:spPr>
        <p:txBody>
          <a:bodyPr wrap="square" lIns="76200" tIns="57150" rIns="76200" bIns="57150" rtlCol="0" anchor="t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does not flip</a:t>
            </a:r>
            <a:endParaRPr lang="en-US" sz="750" dirty="0"/>
          </a:p>
        </p:txBody>
      </p:sp>
      <p:sp>
        <p:nvSpPr>
          <p:cNvPr id="23" name="TextBox 35"/>
          <p:cNvSpPr/>
          <p:nvPr/>
        </p:nvSpPr>
        <p:spPr>
          <a:xfrm>
            <a:off x="571500" y="3810000"/>
            <a:ext cx="666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surprise: Arabic readers out-read English readers. The language we'd have designed second turned out to matter most.</a:t>
            </a:r>
            <a:endParaRPr lang="en-US" sz="1125" dirty="0"/>
          </a:p>
        </p:txBody>
      </p:sp>
      <p:sp>
        <p:nvSpPr>
          <p:cNvPr id="24" name="TextBox 37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8 · MEASURE · DATA ARGUES WITH TASTE</a:t>
            </a:r>
            <a:endParaRPr lang="en-US" sz="825" dirty="0"/>
          </a:p>
        </p:txBody>
      </p:sp>
      <p:sp>
        <p:nvSpPr>
          <p:cNvPr id="14" name="TextBox 18"/>
          <p:cNvSpPr/>
          <p:nvPr/>
        </p:nvSpPr>
        <p:spPr>
          <a:xfrm>
            <a:off x="571500" y="1285875"/>
            <a:ext cx="7143750" cy="72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75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idea was a "most read" section. The data said no.</a:t>
            </a:r>
            <a:endParaRPr lang="en-US" sz="2700" dirty="0"/>
          </a:p>
        </p:txBody>
      </p:sp>
      <p:sp>
        <p:nvSpPr>
          <p:cNvPr id="15" name="TextBox 23"/>
          <p:cNvSpPr/>
          <p:nvPr/>
        </p:nvSpPr>
        <p:spPr>
          <a:xfrm>
            <a:off x="571500" y="2238375"/>
            <a:ext cx="2476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716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FELT</a:t>
            </a:r>
            <a:endParaRPr lang="en-US" sz="750" dirty="0"/>
          </a:p>
        </p:txBody>
      </p:sp>
      <p:sp>
        <p:nvSpPr>
          <p:cNvPr id="16" name="TextBox 24"/>
          <p:cNvSpPr/>
          <p:nvPr/>
        </p:nvSpPr>
        <p:spPr>
          <a:xfrm>
            <a:off x="571500" y="2428875"/>
            <a:ext cx="2476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the popular articles. Social proof works.</a:t>
            </a:r>
            <a:endParaRPr lang="en-US" sz="1125" dirty="0"/>
          </a:p>
        </p:txBody>
      </p:sp>
      <p:sp>
        <p:nvSpPr>
          <p:cNvPr id="17" name="TextBox 27"/>
          <p:cNvSpPr/>
          <p:nvPr/>
        </p:nvSpPr>
        <p:spPr>
          <a:xfrm>
            <a:off x="3333750" y="2238375"/>
            <a:ext cx="2476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716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FOUND</a:t>
            </a:r>
            <a:endParaRPr lang="en-US" sz="750" dirty="0"/>
          </a:p>
        </p:txBody>
      </p:sp>
      <p:sp>
        <p:nvSpPr>
          <p:cNvPr id="18" name="TextBox 28"/>
          <p:cNvSpPr/>
          <p:nvPr/>
        </p:nvSpPr>
        <p:spPr>
          <a:xfrm>
            <a:off x="3333750" y="2428875"/>
            <a:ext cx="24765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 few readers to call anything popular, and the "top" article changed depending on how you counted.</a:t>
            </a:r>
            <a:endParaRPr lang="en-US" sz="1125" dirty="0"/>
          </a:p>
        </p:txBody>
      </p:sp>
      <p:sp>
        <p:nvSpPr>
          <p:cNvPr id="19" name="TextBox 31"/>
          <p:cNvSpPr/>
          <p:nvPr/>
        </p:nvSpPr>
        <p:spPr>
          <a:xfrm>
            <a:off x="6096000" y="2238375"/>
            <a:ext cx="24765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716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DESIGNED</a:t>
            </a:r>
            <a:endParaRPr lang="en-US" sz="750" dirty="0"/>
          </a:p>
        </p:txBody>
      </p:sp>
      <p:sp>
        <p:nvSpPr>
          <p:cNvPr id="20" name="TextBox 32"/>
          <p:cNvSpPr/>
          <p:nvPr/>
        </p:nvSpPr>
        <p:spPr>
          <a:xfrm>
            <a:off x="6096000" y="2428875"/>
            <a:ext cx="24765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hand-picked articles, one per service. No fake popularity.</a:t>
            </a:r>
            <a:endParaRPr lang="en-US" sz="1125" dirty="0"/>
          </a:p>
        </p:txBody>
      </p:sp>
      <p:sp>
        <p:nvSpPr>
          <p:cNvPr id="21" name="TextBox 35"/>
          <p:cNvSpPr/>
          <p:nvPr/>
        </p:nvSpPr>
        <p:spPr>
          <a:xfrm>
            <a:off x="571500" y="3810000"/>
            <a:ext cx="7620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in the sign-up flow: two real people stopped at question five and nobody followed up. The fix was a daily call list, not a new screen.</a:t>
            </a:r>
            <a:endParaRPr lang="en-US" sz="1125" dirty="0"/>
          </a:p>
        </p:txBody>
      </p:sp>
      <p:sp>
        <p:nvSpPr>
          <p:cNvPr id="22" name="TextBox 37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118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9 · THE PART NO DESIGN TOOL HAD</a:t>
            </a:r>
            <a:endParaRPr lang="en-US" sz="825" dirty="0"/>
          </a:p>
        </p:txBody>
      </p:sp>
      <p:pic>
        <p:nvPicPr>
          <p:cNvPr id="14" name="Picture 18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571625"/>
            <a:ext cx="6419850" cy="685800"/>
          </a:xfrm>
          <a:prstGeom prst="rect">
            <a:avLst/>
          </a:prstGeom>
        </p:spPr>
      </p:pic>
      <p:sp>
        <p:nvSpPr>
          <p:cNvPr id="15" name="TextBox 18"/>
          <p:cNvSpPr/>
          <p:nvPr/>
        </p:nvSpPr>
        <p:spPr>
          <a:xfrm>
            <a:off x="571500" y="1571625"/>
            <a:ext cx="6419850" cy="6858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spc="-56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cut the same words twice, six hours apart, because nobody wrote down the first decision.</a:t>
            </a:r>
            <a:endParaRPr lang="en-US" sz="2250" dirty="0"/>
          </a:p>
        </p:txBody>
      </p:sp>
      <p:sp>
        <p:nvSpPr>
          <p:cNvPr id="16" name="TextBox 20"/>
          <p:cNvSpPr/>
          <p:nvPr/>
        </p:nvSpPr>
        <p:spPr>
          <a:xfrm>
            <a:off x="571500" y="3333750"/>
            <a:ext cx="7143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 now every change starts with the problem written down and ends with the decision recorded. Next time, the design starts from what we already learned. That's the second brain.</a:t>
            </a:r>
            <a:endParaRPr lang="en-US" sz="1125" dirty="0"/>
          </a:p>
        </p:txBody>
      </p:sp>
      <p:sp>
        <p:nvSpPr>
          <p:cNvPr id="17" name="TextBox 22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4FD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10 · THE SAME WEEK, REWRITTEN</a:t>
            </a:r>
            <a:endParaRPr lang="en-US" sz="825" dirty="0"/>
          </a:p>
        </p:txBody>
      </p:sp>
      <p:sp>
        <p:nvSpPr>
          <p:cNvPr id="14" name="TextBox 18"/>
          <p:cNvSpPr/>
          <p:nvPr/>
        </p:nvSpPr>
        <p:spPr>
          <a:xfrm>
            <a:off x="571500" y="1285875"/>
            <a:ext cx="7143750" cy="363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75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designer. Wider role.</a:t>
            </a:r>
            <a:endParaRPr lang="en-US" sz="2700" dirty="0"/>
          </a:p>
        </p:txBody>
      </p:sp>
      <p:graphicFrame>
        <p:nvGraphicFramePr>
          <p:cNvPr id="13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2047875"/>
          <a:ext cx="714375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086100"/>
                <a:gridCol w="268605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spc="113" kern="0" dirty="0">
                          <a:solidFill>
                            <a:srgbClr val="71658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80963" marB="809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4288" cap="flat" cmpd="sng" algn="ctr">
                      <a:solidFill>
                        <a:srgbClr val="0A0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spc="113" kern="0" dirty="0">
                          <a:solidFill>
                            <a:srgbClr val="71658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BEFORE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80963" marB="809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4288" cap="flat" cmpd="sng" algn="ctr">
                      <a:solidFill>
                        <a:srgbClr val="0A0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spc="113" kern="0" dirty="0">
                          <a:solidFill>
                            <a:srgbClr val="71658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NOW</a:t>
                      </a:r>
                      <a:endParaRPr lang="en-US" sz="7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80963" marB="80963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4288" cap="flat" cmpd="sng" algn="ctr">
                      <a:solidFill>
                        <a:srgbClr val="0A01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01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Brief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16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Handed a problem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01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Helps frame the problem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01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Design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16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Screens in a file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01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Working pages, both languages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01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Critique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16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Opinions in a review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01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panel, then real users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01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Hand-off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16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file leaves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01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you design is what ships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01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4A416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Never sees the numbers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0A01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Reads the funnel, changes the design</a:t>
                      </a:r>
                      <a:endParaRPr lang="en-US" sz="10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9063" marR="119063" marT="109538" marB="109538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6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TextBox 22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6D2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11 · THE DEEP PART OF THE T</a:t>
            </a:r>
            <a:endParaRPr lang="en-US" sz="825" dirty="0"/>
          </a:p>
        </p:txBody>
      </p:sp>
      <p:sp>
        <p:nvSpPr>
          <p:cNvPr id="14" name="TextBox 18"/>
          <p:cNvSpPr/>
          <p:nvPr/>
        </p:nvSpPr>
        <p:spPr>
          <a:xfrm>
            <a:off x="571500" y="1285875"/>
            <a:ext cx="7143750" cy="363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75" kern="0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only a designer brings. Add to this list.</a:t>
            </a:r>
            <a:endParaRPr lang="en-US" sz="2700" dirty="0"/>
          </a:p>
        </p:txBody>
      </p:sp>
      <p:sp>
        <p:nvSpPr>
          <p:cNvPr id="15" name="Shape 22"/>
          <p:cNvSpPr/>
          <p:nvPr/>
        </p:nvSpPr>
        <p:spPr>
          <a:xfrm>
            <a:off x="571500" y="2238375"/>
            <a:ext cx="2476500" cy="498128"/>
          </a:xfrm>
          <a:prstGeom prst="rect">
            <a:avLst/>
          </a:prstGeom>
          <a:noFill/>
          <a:ln/>
        </p:spPr>
      </p:sp>
      <p:pic>
        <p:nvPicPr>
          <p:cNvPr id="16" name="Picture 2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2238375"/>
            <a:ext cx="2476500" cy="498128"/>
          </a:xfrm>
          <a:prstGeom prst="rect">
            <a:avLst/>
          </a:prstGeom>
        </p:spPr>
      </p:pic>
      <p:sp>
        <p:nvSpPr>
          <p:cNvPr id="17" name="TextBox 23"/>
          <p:cNvSpPr/>
          <p:nvPr/>
        </p:nvSpPr>
        <p:spPr>
          <a:xfrm>
            <a:off x="571500" y="2357438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Interviews</a:t>
            </a:r>
            <a:endParaRPr lang="en-US" sz="1125" dirty="0"/>
          </a:p>
        </p:txBody>
      </p:sp>
      <p:sp>
        <p:nvSpPr>
          <p:cNvPr id="18" name="TextBox 24"/>
          <p:cNvSpPr/>
          <p:nvPr/>
        </p:nvSpPr>
        <p:spPr>
          <a:xfrm>
            <a:off x="571500" y="2576512"/>
            <a:ext cx="24765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Hearing what the user doesn't say.</a:t>
            </a:r>
            <a:endParaRPr lang="en-US" sz="900" dirty="0"/>
          </a:p>
        </p:txBody>
      </p:sp>
      <p:sp>
        <p:nvSpPr>
          <p:cNvPr id="19" name="Shape 26"/>
          <p:cNvSpPr/>
          <p:nvPr/>
        </p:nvSpPr>
        <p:spPr>
          <a:xfrm>
            <a:off x="3238500" y="2238375"/>
            <a:ext cx="2476500" cy="498128"/>
          </a:xfrm>
          <a:prstGeom prst="rect">
            <a:avLst/>
          </a:prstGeom>
          <a:noFill/>
          <a:ln/>
        </p:spPr>
      </p:sp>
      <p:pic>
        <p:nvPicPr>
          <p:cNvPr id="20" name="Picture 26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8500" y="2238375"/>
            <a:ext cx="2476500" cy="498128"/>
          </a:xfrm>
          <a:prstGeom prst="rect">
            <a:avLst/>
          </a:prstGeom>
        </p:spPr>
      </p:pic>
      <p:sp>
        <p:nvSpPr>
          <p:cNvPr id="21" name="TextBox 27"/>
          <p:cNvSpPr/>
          <p:nvPr/>
        </p:nvSpPr>
        <p:spPr>
          <a:xfrm>
            <a:off x="3238500" y="2357438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1125" dirty="0"/>
          </a:p>
        </p:txBody>
      </p:sp>
      <p:sp>
        <p:nvSpPr>
          <p:cNvPr id="22" name="TextBox 28"/>
          <p:cNvSpPr/>
          <p:nvPr/>
        </p:nvSpPr>
        <p:spPr>
          <a:xfrm>
            <a:off x="3238500" y="2576512"/>
            <a:ext cx="24765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Watching a real thumb miss a real button.</a:t>
            </a:r>
            <a:endParaRPr lang="en-US" sz="900" dirty="0"/>
          </a:p>
        </p:txBody>
      </p:sp>
      <p:sp>
        <p:nvSpPr>
          <p:cNvPr id="23" name="Shape 30"/>
          <p:cNvSpPr/>
          <p:nvPr/>
        </p:nvSpPr>
        <p:spPr>
          <a:xfrm>
            <a:off x="5905500" y="2238375"/>
            <a:ext cx="2476500" cy="498128"/>
          </a:xfrm>
          <a:prstGeom prst="rect">
            <a:avLst/>
          </a:prstGeom>
          <a:noFill/>
          <a:ln/>
        </p:spPr>
      </p:sp>
      <p:pic>
        <p:nvPicPr>
          <p:cNvPr id="24" name="Picture 30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05500" y="2238375"/>
            <a:ext cx="2476500" cy="498128"/>
          </a:xfrm>
          <a:prstGeom prst="rect">
            <a:avLst/>
          </a:prstGeom>
        </p:spPr>
      </p:pic>
      <p:sp>
        <p:nvSpPr>
          <p:cNvPr id="25" name="TextBox 31"/>
          <p:cNvSpPr/>
          <p:nvPr/>
        </p:nvSpPr>
        <p:spPr>
          <a:xfrm>
            <a:off x="5905500" y="2357438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Taste</a:t>
            </a:r>
            <a:endParaRPr lang="en-US" sz="1125" dirty="0"/>
          </a:p>
        </p:txBody>
      </p:sp>
      <p:sp>
        <p:nvSpPr>
          <p:cNvPr id="26" name="TextBox 32"/>
          <p:cNvSpPr/>
          <p:nvPr/>
        </p:nvSpPr>
        <p:spPr>
          <a:xfrm>
            <a:off x="5905500" y="2576512"/>
            <a:ext cx="24765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Knowing when polish has made it bland.</a:t>
            </a:r>
            <a:endParaRPr lang="en-US" sz="900" dirty="0"/>
          </a:p>
        </p:txBody>
      </p:sp>
      <p:sp>
        <p:nvSpPr>
          <p:cNvPr id="27" name="Shape 37"/>
          <p:cNvSpPr/>
          <p:nvPr/>
        </p:nvSpPr>
        <p:spPr>
          <a:xfrm>
            <a:off x="571500" y="3429000"/>
            <a:ext cx="2476500" cy="658118"/>
          </a:xfrm>
          <a:prstGeom prst="rect">
            <a:avLst/>
          </a:prstGeom>
          <a:noFill/>
          <a:ln/>
        </p:spPr>
      </p:sp>
      <p:pic>
        <p:nvPicPr>
          <p:cNvPr id="28" name="Picture 37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500" y="3429000"/>
            <a:ext cx="2476500" cy="658118"/>
          </a:xfrm>
          <a:prstGeom prst="rect">
            <a:avLst/>
          </a:prstGeom>
        </p:spPr>
      </p:pic>
      <p:sp>
        <p:nvSpPr>
          <p:cNvPr id="29" name="TextBox 38"/>
          <p:cNvSpPr/>
          <p:nvPr/>
        </p:nvSpPr>
        <p:spPr>
          <a:xfrm>
            <a:off x="571500" y="3548062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</a:t>
            </a:r>
            <a:endParaRPr lang="en-US" sz="1125" dirty="0"/>
          </a:p>
        </p:txBody>
      </p:sp>
      <p:sp>
        <p:nvSpPr>
          <p:cNvPr id="30" name="TextBox 39"/>
          <p:cNvSpPr/>
          <p:nvPr/>
        </p:nvSpPr>
        <p:spPr>
          <a:xfrm>
            <a:off x="571500" y="3767138"/>
            <a:ext cx="247650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summarises. You decide what matters.</a:t>
            </a:r>
            <a:endParaRPr lang="en-US" sz="900" dirty="0"/>
          </a:p>
        </p:txBody>
      </p:sp>
      <p:sp>
        <p:nvSpPr>
          <p:cNvPr id="31" name="Shape 41"/>
          <p:cNvSpPr/>
          <p:nvPr/>
        </p:nvSpPr>
        <p:spPr>
          <a:xfrm>
            <a:off x="3238500" y="3429000"/>
            <a:ext cx="2476500" cy="658118"/>
          </a:xfrm>
          <a:prstGeom prst="rect">
            <a:avLst/>
          </a:prstGeom>
          <a:noFill/>
          <a:ln/>
        </p:spPr>
      </p:sp>
      <p:pic>
        <p:nvPicPr>
          <p:cNvPr id="32" name="Picture 41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38500" y="3429000"/>
            <a:ext cx="2476500" cy="658118"/>
          </a:xfrm>
          <a:prstGeom prst="rect">
            <a:avLst/>
          </a:prstGeom>
        </p:spPr>
      </p:pic>
      <p:sp>
        <p:nvSpPr>
          <p:cNvPr id="33" name="TextBox 42"/>
          <p:cNvSpPr/>
          <p:nvPr/>
        </p:nvSpPr>
        <p:spPr>
          <a:xfrm>
            <a:off x="3238500" y="3548062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</a:t>
            </a:r>
            <a:endParaRPr lang="en-US" sz="1125" dirty="0"/>
          </a:p>
        </p:txBody>
      </p:sp>
      <p:sp>
        <p:nvSpPr>
          <p:cNvPr id="34" name="TextBox 43"/>
          <p:cNvSpPr/>
          <p:nvPr/>
        </p:nvSpPr>
        <p:spPr>
          <a:xfrm>
            <a:off x="3238500" y="3767137"/>
            <a:ext cx="24765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who use screen readers, not only a checker.</a:t>
            </a:r>
            <a:endParaRPr lang="en-US" sz="900" dirty="0"/>
          </a:p>
        </p:txBody>
      </p:sp>
      <p:sp>
        <p:nvSpPr>
          <p:cNvPr id="35" name="Shape 45"/>
          <p:cNvSpPr/>
          <p:nvPr/>
        </p:nvSpPr>
        <p:spPr>
          <a:xfrm>
            <a:off x="5905500" y="3429000"/>
            <a:ext cx="2476500" cy="658118"/>
          </a:xfrm>
          <a:prstGeom prst="rect">
            <a:avLst/>
          </a:prstGeom>
          <a:noFill/>
          <a:ln/>
        </p:spPr>
      </p:sp>
      <p:pic>
        <p:nvPicPr>
          <p:cNvPr id="36" name="Picture 45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905500" y="3429000"/>
            <a:ext cx="2476500" cy="658118"/>
          </a:xfrm>
          <a:prstGeom prst="rect">
            <a:avLst/>
          </a:prstGeom>
        </p:spPr>
      </p:pic>
      <p:sp>
        <p:nvSpPr>
          <p:cNvPr id="37" name="TextBox 46"/>
          <p:cNvSpPr/>
          <p:nvPr/>
        </p:nvSpPr>
        <p:spPr>
          <a:xfrm>
            <a:off x="5905500" y="3548062"/>
            <a:ext cx="2476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Ethics</a:t>
            </a:r>
            <a:endParaRPr lang="en-US" sz="1125" dirty="0"/>
          </a:p>
        </p:txBody>
      </p:sp>
      <p:sp>
        <p:nvSpPr>
          <p:cNvPr id="38" name="TextBox 47"/>
          <p:cNvSpPr/>
          <p:nvPr/>
        </p:nvSpPr>
        <p:spPr>
          <a:xfrm>
            <a:off x="5905500" y="3767137"/>
            <a:ext cx="24765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4A416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Refusing the dark pattern the numbers reward.</a:t>
            </a:r>
            <a:endParaRPr lang="en-US" sz="900" dirty="0"/>
          </a:p>
        </p:txBody>
      </p:sp>
      <p:sp>
        <p:nvSpPr>
          <p:cNvPr id="39" name="TextBox 50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118"/>
          </a:solidFill>
          <a:ln/>
        </p:spPr>
      </p:sp>
      <p:sp>
        <p:nvSpPr>
          <p:cNvPr id="3" name="Shape 4"/>
          <p:cNvSpPr/>
          <p:nvPr/>
        </p:nvSpPr>
        <p:spPr>
          <a:xfrm>
            <a:off x="571500" y="342900"/>
            <a:ext cx="85725" cy="85725"/>
          </a:xfrm>
          <a:prstGeom prst="rect">
            <a:avLst/>
          </a:prstGeom>
          <a:solidFill>
            <a:srgbClr val="CCFF00"/>
          </a:solidFill>
          <a:ln/>
        </p:spPr>
      </p:sp>
      <p:sp>
        <p:nvSpPr>
          <p:cNvPr id="4" name="Shape 5"/>
          <p:cNvSpPr/>
          <p:nvPr/>
        </p:nvSpPr>
        <p:spPr>
          <a:xfrm>
            <a:off x="6858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5" name="Shape 6"/>
          <p:cNvSpPr/>
          <p:nvPr/>
        </p:nvSpPr>
        <p:spPr>
          <a:xfrm>
            <a:off x="800100" y="3429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6" name="Shape 7"/>
          <p:cNvSpPr/>
          <p:nvPr/>
        </p:nvSpPr>
        <p:spPr>
          <a:xfrm>
            <a:off x="5715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7" name="Shape 8"/>
          <p:cNvSpPr/>
          <p:nvPr/>
        </p:nvSpPr>
        <p:spPr>
          <a:xfrm>
            <a:off x="6858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8" name="Shape 9"/>
          <p:cNvSpPr/>
          <p:nvPr/>
        </p:nvSpPr>
        <p:spPr>
          <a:xfrm>
            <a:off x="800100" y="4572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9" name="Shape 10"/>
          <p:cNvSpPr/>
          <p:nvPr/>
        </p:nvSpPr>
        <p:spPr>
          <a:xfrm>
            <a:off x="571500" y="571500"/>
            <a:ext cx="85725" cy="85725"/>
          </a:xfrm>
          <a:prstGeom prst="rect">
            <a:avLst/>
          </a:prstGeom>
          <a:solidFill>
            <a:srgbClr val="6D28FF"/>
          </a:solidFill>
          <a:ln/>
        </p:spPr>
      </p:sp>
      <p:sp>
        <p:nvSpPr>
          <p:cNvPr id="10" name="Shape 11"/>
          <p:cNvSpPr/>
          <p:nvPr/>
        </p:nvSpPr>
        <p:spPr>
          <a:xfrm>
            <a:off x="6858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1" name="Shape 12"/>
          <p:cNvSpPr/>
          <p:nvPr/>
        </p:nvSpPr>
        <p:spPr>
          <a:xfrm>
            <a:off x="800100" y="571500"/>
            <a:ext cx="85725" cy="85725"/>
          </a:xfrm>
          <a:prstGeom prst="rect">
            <a:avLst/>
          </a:prstGeom>
          <a:noFill/>
          <a:ln w="9525">
            <a:solidFill>
              <a:srgbClr val="6D28FF"/>
            </a:solidFill>
            <a:prstDash val="solid"/>
          </a:ln>
        </p:spPr>
      </p:sp>
      <p:sp>
        <p:nvSpPr>
          <p:cNvPr id="12" name="TextBox 14"/>
          <p:cNvSpPr/>
          <p:nvPr/>
        </p:nvSpPr>
        <p:spPr>
          <a:xfrm>
            <a:off x="981075" y="40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25" b="1" spc="-19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</a:t>
            </a:r>
            <a:endParaRPr lang="en-US" sz="1125" dirty="0"/>
          </a:p>
        </p:txBody>
      </p:sp>
      <p:sp>
        <p:nvSpPr>
          <p:cNvPr id="13" name="TextBox 16"/>
          <p:cNvSpPr/>
          <p:nvPr/>
        </p:nvSpPr>
        <p:spPr>
          <a:xfrm>
            <a:off x="571500" y="1047750"/>
            <a:ext cx="8001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88" kern="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 · IN THIS SESSION</a:t>
            </a:r>
            <a:endParaRPr lang="en-US" sz="825" dirty="0"/>
          </a:p>
        </p:txBody>
      </p:sp>
      <p:sp>
        <p:nvSpPr>
          <p:cNvPr id="14" name="TextBox 18"/>
          <p:cNvSpPr/>
          <p:nvPr/>
        </p:nvSpPr>
        <p:spPr>
          <a:xfrm>
            <a:off x="571500" y="1285875"/>
            <a:ext cx="7143750" cy="726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7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real change, designed live. Then your verdict.</a:t>
            </a:r>
            <a:endParaRPr lang="en-US" sz="2700" dirty="0"/>
          </a:p>
        </p:txBody>
      </p:sp>
      <p:sp>
        <p:nvSpPr>
          <p:cNvPr id="15" name="TextBox 20"/>
          <p:cNvSpPr/>
          <p:nvPr/>
        </p:nvSpPr>
        <p:spPr>
          <a:xfrm>
            <a:off x="571500" y="2286000"/>
            <a:ext cx="7143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bottom of the home page feels heavy: an old news item sits on top of a second list. We'll take it from problem to shipped decision, together.</a:t>
            </a:r>
            <a:endParaRPr lang="en-US" sz="1125" dirty="0"/>
          </a:p>
        </p:txBody>
      </p:sp>
      <p:sp>
        <p:nvSpPr>
          <p:cNvPr id="16" name="TextBox 23"/>
          <p:cNvSpPr/>
          <p:nvPr/>
        </p:nvSpPr>
        <p:spPr>
          <a:xfrm>
            <a:off x="571500" y="3333750"/>
            <a:ext cx="1264965" cy="309562"/>
          </a:xfrm>
          <a:prstGeom prst="rect">
            <a:avLst/>
          </a:prstGeom>
          <a:solidFill>
            <a:srgbClr val="12082B"/>
          </a:solidFill>
          <a:ln w="9525">
            <a:solidFill>
              <a:srgbClr val="241553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 the problem</a:t>
            </a:r>
            <a:endParaRPr lang="en-US" sz="900" dirty="0"/>
          </a:p>
        </p:txBody>
      </p:sp>
      <p:sp>
        <p:nvSpPr>
          <p:cNvPr id="17" name="TextBox 24"/>
          <p:cNvSpPr/>
          <p:nvPr/>
        </p:nvSpPr>
        <p:spPr>
          <a:xfrm>
            <a:off x="1903140" y="3407569"/>
            <a:ext cx="133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50" dirty="0"/>
          </a:p>
        </p:txBody>
      </p:sp>
      <p:sp>
        <p:nvSpPr>
          <p:cNvPr id="18" name="TextBox 25"/>
          <p:cNvSpPr/>
          <p:nvPr/>
        </p:nvSpPr>
        <p:spPr>
          <a:xfrm>
            <a:off x="2103165" y="3333750"/>
            <a:ext cx="711919" cy="309562"/>
          </a:xfrm>
          <a:prstGeom prst="rect">
            <a:avLst/>
          </a:prstGeom>
          <a:solidFill>
            <a:srgbClr val="12082B"/>
          </a:solidFill>
          <a:ln w="9525">
            <a:solidFill>
              <a:srgbClr val="241553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it</a:t>
            </a:r>
            <a:endParaRPr lang="en-US" sz="900" dirty="0"/>
          </a:p>
        </p:txBody>
      </p:sp>
      <p:sp>
        <p:nvSpPr>
          <p:cNvPr id="19" name="TextBox 26"/>
          <p:cNvSpPr/>
          <p:nvPr/>
        </p:nvSpPr>
        <p:spPr>
          <a:xfrm>
            <a:off x="2881759" y="3407569"/>
            <a:ext cx="133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50" dirty="0"/>
          </a:p>
        </p:txBody>
      </p:sp>
      <p:sp>
        <p:nvSpPr>
          <p:cNvPr id="20" name="TextBox 27"/>
          <p:cNvSpPr/>
          <p:nvPr/>
        </p:nvSpPr>
        <p:spPr>
          <a:xfrm>
            <a:off x="3081784" y="3333750"/>
            <a:ext cx="668015" cy="309562"/>
          </a:xfrm>
          <a:prstGeom prst="rect">
            <a:avLst/>
          </a:prstGeom>
          <a:solidFill>
            <a:srgbClr val="12082B"/>
          </a:solidFill>
          <a:ln w="9525">
            <a:solidFill>
              <a:srgbClr val="241553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Critique</a:t>
            </a:r>
            <a:endParaRPr lang="en-US" sz="900" dirty="0"/>
          </a:p>
        </p:txBody>
      </p:sp>
      <p:sp>
        <p:nvSpPr>
          <p:cNvPr id="21" name="TextBox 28"/>
          <p:cNvSpPr/>
          <p:nvPr/>
        </p:nvSpPr>
        <p:spPr>
          <a:xfrm>
            <a:off x="3816474" y="3407569"/>
            <a:ext cx="133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50" dirty="0"/>
          </a:p>
        </p:txBody>
      </p:sp>
      <p:sp>
        <p:nvSpPr>
          <p:cNvPr id="22" name="TextBox 29"/>
          <p:cNvSpPr/>
          <p:nvPr/>
        </p:nvSpPr>
        <p:spPr>
          <a:xfrm>
            <a:off x="4016499" y="3333750"/>
            <a:ext cx="1111672" cy="309562"/>
          </a:xfrm>
          <a:prstGeom prst="rect">
            <a:avLst/>
          </a:prstGeom>
          <a:solidFill>
            <a:srgbClr val="12082B"/>
          </a:solidFill>
          <a:ln w="9525">
            <a:solidFill>
              <a:srgbClr val="241553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B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it on screen</a:t>
            </a:r>
            <a:endParaRPr lang="en-US" sz="900" dirty="0"/>
          </a:p>
        </p:txBody>
      </p:sp>
      <p:sp>
        <p:nvSpPr>
          <p:cNvPr id="23" name="TextBox 30"/>
          <p:cNvSpPr/>
          <p:nvPr/>
        </p:nvSpPr>
        <p:spPr>
          <a:xfrm>
            <a:off x="5194846" y="3407569"/>
            <a:ext cx="133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50" dirty="0"/>
          </a:p>
        </p:txBody>
      </p:sp>
      <p:sp>
        <p:nvSpPr>
          <p:cNvPr id="24" name="TextBox 31"/>
          <p:cNvSpPr/>
          <p:nvPr/>
        </p:nvSpPr>
        <p:spPr>
          <a:xfrm>
            <a:off x="5394871" y="3333750"/>
            <a:ext cx="1446833" cy="309562"/>
          </a:xfrm>
          <a:prstGeom prst="rect">
            <a:avLst/>
          </a:prstGeom>
          <a:solidFill>
            <a:srgbClr val="CCFF00"/>
          </a:solidFill>
          <a:ln w="9525">
            <a:solidFill>
              <a:srgbClr val="CCFF00"/>
            </a:solidFill>
            <a:prstDash val="solid"/>
          </a:ln>
        </p:spPr>
        <p:txBody>
          <a:bodyPr wrap="square" lIns="104775" tIns="76200" rIns="104775" bIns="7620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01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and remember</a:t>
            </a:r>
            <a:endParaRPr lang="en-US" sz="900" dirty="0"/>
          </a:p>
        </p:txBody>
      </p:sp>
      <p:sp>
        <p:nvSpPr>
          <p:cNvPr id="25" name="TextBox 33"/>
          <p:cNvSpPr/>
          <p:nvPr/>
        </p:nvSpPr>
        <p:spPr>
          <a:xfrm>
            <a:off x="571500" y="4572000"/>
            <a:ext cx="7620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athr21.com · hello@athr21.com</a:t>
            </a:r>
            <a:endParaRPr lang="en-US" sz="750" dirty="0"/>
          </a:p>
        </p:txBody>
      </p:sp>
      <p:sp>
        <p:nvSpPr>
          <p:cNvPr id="26" name="TextBox 35"/>
          <p:cNvSpPr/>
          <p:nvPr/>
        </p:nvSpPr>
        <p:spPr>
          <a:xfrm>
            <a:off x="8096250" y="4572000"/>
            <a:ext cx="4762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478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Source of Truth Moved</dc:title>
  <dc:subject>PptxGenJS Presentation</dc:subject>
  <dc:creator>Athr21</dc:creator>
  <cp:lastModifiedBy>Athr21</cp:lastModifiedBy>
  <cp:revision>1</cp:revision>
  <dcterms:created xsi:type="dcterms:W3CDTF">2026-09-16T20:16:56Z</dcterms:created>
  <dcterms:modified xsi:type="dcterms:W3CDTF">2026-09-16T20:16:56Z</dcterms:modified>
</cp:coreProperties>
</file>