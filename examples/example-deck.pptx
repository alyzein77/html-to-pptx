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Shape 4"/>
          <p:cNvSpPr/>
          <p:nvPr/>
        </p:nvSpPr>
        <p:spPr>
          <a:xfrm>
            <a:off x="476250" y="171450"/>
            <a:ext cx="228600" cy="228600"/>
          </a:xfrm>
          <a:prstGeom prst="roundRect">
            <a:avLst>
              <a:gd name="adj" fmla="val 20833"/>
            </a:avLst>
          </a:prstGeom>
          <a:solidFill>
            <a:srgbClr val="1F2A44"/>
          </a:solidFill>
          <a:ln/>
        </p:spPr>
      </p:sp>
      <p:sp>
        <p:nvSpPr>
          <p:cNvPr id="5" name="TextBox 5"/>
          <p:cNvSpPr/>
          <p:nvPr/>
        </p:nvSpPr>
        <p:spPr>
          <a:xfrm>
            <a:off x="781050" y="19050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</a:t>
            </a:r>
            <a:endParaRPr lang="en-US" sz="1275" dirty="0"/>
          </a:p>
        </p:txBody>
      </p:sp>
      <p:sp>
        <p:nvSpPr>
          <p:cNvPr id="6" name="TextBox 7"/>
          <p:cNvSpPr/>
          <p:nvPr/>
        </p:nvSpPr>
        <p:spPr>
          <a:xfrm>
            <a:off x="476250" y="2000250"/>
            <a:ext cx="8191500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spc="188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</a:t>
            </a:r>
            <a:endParaRPr lang="en-US" sz="975" dirty="0"/>
          </a:p>
        </p:txBody>
      </p:sp>
      <p:sp>
        <p:nvSpPr>
          <p:cNvPr id="7" name="TextBox 9"/>
          <p:cNvSpPr/>
          <p:nvPr/>
        </p:nvSpPr>
        <p:spPr>
          <a:xfrm>
            <a:off x="476250" y="2238375"/>
            <a:ext cx="81915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Business Plan</a:t>
            </a:r>
            <a:endParaRPr lang="en-US" sz="30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session</a:t>
            </a:r>
            <a:endParaRPr lang="en-US" sz="3000" dirty="0"/>
          </a:p>
        </p:txBody>
      </p:sp>
      <p:sp>
        <p:nvSpPr>
          <p:cNvPr id="8" name="TextBox 11"/>
          <p:cNvSpPr/>
          <p:nvPr/>
        </p:nvSpPr>
        <p:spPr>
          <a:xfrm>
            <a:off x="476250" y="4762500"/>
            <a:ext cx="5715000" cy="109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750" dirty="0"/>
          </a:p>
        </p:txBody>
      </p:sp>
      <p:sp>
        <p:nvSpPr>
          <p:cNvPr id="9" name="TextBox 12"/>
          <p:cNvSpPr/>
          <p:nvPr/>
        </p:nvSpPr>
        <p:spPr>
          <a:xfrm>
            <a:off x="8191500" y="4762500"/>
            <a:ext cx="476250" cy="109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Shape 4"/>
          <p:cNvSpPr/>
          <p:nvPr/>
        </p:nvSpPr>
        <p:spPr>
          <a:xfrm>
            <a:off x="476250" y="171450"/>
            <a:ext cx="228600" cy="228600"/>
          </a:xfrm>
          <a:prstGeom prst="roundRect">
            <a:avLst>
              <a:gd name="adj" fmla="val 20833"/>
            </a:avLst>
          </a:prstGeom>
          <a:solidFill>
            <a:srgbClr val="1F2A44"/>
          </a:solidFill>
          <a:ln/>
        </p:spPr>
      </p:sp>
      <p:sp>
        <p:nvSpPr>
          <p:cNvPr id="5" name="TextBox 5"/>
          <p:cNvSpPr/>
          <p:nvPr/>
        </p:nvSpPr>
        <p:spPr>
          <a:xfrm>
            <a:off x="781050" y="19050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</a:t>
            </a:r>
            <a:endParaRPr lang="en-US" sz="1275" dirty="0"/>
          </a:p>
        </p:txBody>
      </p:sp>
      <p:sp>
        <p:nvSpPr>
          <p:cNvPr id="6" name="TextBox 7"/>
          <p:cNvSpPr/>
          <p:nvPr/>
        </p:nvSpPr>
        <p:spPr>
          <a:xfrm>
            <a:off x="476250" y="952500"/>
            <a:ext cx="8191500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spc="188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975" dirty="0"/>
          </a:p>
        </p:txBody>
      </p:sp>
      <p:sp>
        <p:nvSpPr>
          <p:cNvPr id="7" name="TextBox 9"/>
          <p:cNvSpPr/>
          <p:nvPr/>
        </p:nvSpPr>
        <p:spPr>
          <a:xfrm>
            <a:off x="476250" y="1190625"/>
            <a:ext cx="8191500" cy="335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workstreams, one owner each</a:t>
            </a:r>
            <a:endParaRPr lang="en-US" sz="2400" dirty="0"/>
          </a:p>
        </p:txBody>
      </p:sp>
      <p:sp>
        <p:nvSpPr>
          <p:cNvPr id="8" name="Shape 11"/>
          <p:cNvSpPr/>
          <p:nvPr/>
        </p:nvSpPr>
        <p:spPr>
          <a:xfrm>
            <a:off x="476250" y="2476500"/>
            <a:ext cx="2495550" cy="173355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9" name="TextBox 12"/>
          <p:cNvSpPr/>
          <p:nvPr/>
        </p:nvSpPr>
        <p:spPr>
          <a:xfrm>
            <a:off x="676275" y="2657475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Box 13"/>
          <p:cNvSpPr/>
          <p:nvPr/>
        </p:nvSpPr>
        <p:spPr>
          <a:xfrm>
            <a:off x="676275" y="3105150"/>
            <a:ext cx="20955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</a:t>
            </a:r>
            <a:endParaRPr lang="en-US" sz="1275" dirty="0"/>
          </a:p>
        </p:txBody>
      </p:sp>
      <p:sp>
        <p:nvSpPr>
          <p:cNvPr id="11" name="TextBox 14"/>
          <p:cNvSpPr/>
          <p:nvPr/>
        </p:nvSpPr>
        <p:spPr>
          <a:xfrm>
            <a:off x="676275" y="3390900"/>
            <a:ext cx="2095500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Utilisation, ageing and the replacement cycle.</a:t>
            </a:r>
            <a:endParaRPr lang="en-US" sz="975" dirty="0"/>
          </a:p>
        </p:txBody>
      </p:sp>
      <p:sp>
        <p:nvSpPr>
          <p:cNvPr id="12" name="Shape 16"/>
          <p:cNvSpPr/>
          <p:nvPr/>
        </p:nvSpPr>
        <p:spPr>
          <a:xfrm>
            <a:off x="3333750" y="2476500"/>
            <a:ext cx="2495550" cy="173355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" name="TextBox 17"/>
          <p:cNvSpPr/>
          <p:nvPr/>
        </p:nvSpPr>
        <p:spPr>
          <a:xfrm>
            <a:off x="3533775" y="2657475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Box 18"/>
          <p:cNvSpPr/>
          <p:nvPr/>
        </p:nvSpPr>
        <p:spPr>
          <a:xfrm>
            <a:off x="3533775" y="3105150"/>
            <a:ext cx="20955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275" dirty="0"/>
          </a:p>
        </p:txBody>
      </p:sp>
      <p:sp>
        <p:nvSpPr>
          <p:cNvPr id="15" name="TextBox 19"/>
          <p:cNvSpPr/>
          <p:nvPr/>
        </p:nvSpPr>
        <p:spPr>
          <a:xfrm>
            <a:off x="3533775" y="3390900"/>
            <a:ext cx="2095500" cy="1733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Rate, mix and channel by brand.</a:t>
            </a:r>
            <a:endParaRPr lang="en-US" sz="975" dirty="0"/>
          </a:p>
        </p:txBody>
      </p:sp>
      <p:sp>
        <p:nvSpPr>
          <p:cNvPr id="16" name="Shape 21"/>
          <p:cNvSpPr/>
          <p:nvPr/>
        </p:nvSpPr>
        <p:spPr>
          <a:xfrm>
            <a:off x="6191250" y="2476500"/>
            <a:ext cx="2495550" cy="173355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7" name="TextBox 22"/>
          <p:cNvSpPr/>
          <p:nvPr/>
        </p:nvSpPr>
        <p:spPr>
          <a:xfrm>
            <a:off x="6391275" y="2657475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Box 23"/>
          <p:cNvSpPr/>
          <p:nvPr/>
        </p:nvSpPr>
        <p:spPr>
          <a:xfrm>
            <a:off x="6391275" y="3105150"/>
            <a:ext cx="20955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275" dirty="0"/>
          </a:p>
        </p:txBody>
      </p:sp>
      <p:sp>
        <p:nvSpPr>
          <p:cNvPr id="19" name="TextBox 24"/>
          <p:cNvSpPr/>
          <p:nvPr/>
        </p:nvSpPr>
        <p:spPr>
          <a:xfrm>
            <a:off x="6391275" y="3390900"/>
            <a:ext cx="2095500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throughput and the support queue.</a:t>
            </a:r>
            <a:endParaRPr lang="en-US" sz="975" dirty="0"/>
          </a:p>
        </p:txBody>
      </p:sp>
      <p:sp>
        <p:nvSpPr>
          <p:cNvPr id="20" name="TextBox 26"/>
          <p:cNvSpPr/>
          <p:nvPr/>
        </p:nvSpPr>
        <p:spPr>
          <a:xfrm>
            <a:off x="476250" y="4762500"/>
            <a:ext cx="5715000" cy="109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750" dirty="0"/>
          </a:p>
        </p:txBody>
      </p:sp>
      <p:sp>
        <p:nvSpPr>
          <p:cNvPr id="21" name="TextBox 27"/>
          <p:cNvSpPr/>
          <p:nvPr/>
        </p:nvSpPr>
        <p:spPr>
          <a:xfrm>
            <a:off x="8191500" y="4762500"/>
            <a:ext cx="476250" cy="109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Shape 4"/>
          <p:cNvSpPr/>
          <p:nvPr/>
        </p:nvSpPr>
        <p:spPr>
          <a:xfrm>
            <a:off x="476250" y="171450"/>
            <a:ext cx="228600" cy="228600"/>
          </a:xfrm>
          <a:prstGeom prst="roundRect">
            <a:avLst>
              <a:gd name="adj" fmla="val 20833"/>
            </a:avLst>
          </a:prstGeom>
          <a:solidFill>
            <a:srgbClr val="1F2A44"/>
          </a:solidFill>
          <a:ln/>
        </p:spPr>
      </p:sp>
      <p:sp>
        <p:nvSpPr>
          <p:cNvPr id="5" name="TextBox 5"/>
          <p:cNvSpPr/>
          <p:nvPr/>
        </p:nvSpPr>
        <p:spPr>
          <a:xfrm>
            <a:off x="781050" y="19050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</a:t>
            </a:r>
            <a:endParaRPr lang="en-US" sz="1275" dirty="0"/>
          </a:p>
        </p:txBody>
      </p:sp>
      <p:sp>
        <p:nvSpPr>
          <p:cNvPr id="6" name="TextBox 7"/>
          <p:cNvSpPr/>
          <p:nvPr/>
        </p:nvSpPr>
        <p:spPr>
          <a:xfrm>
            <a:off x="476250" y="952500"/>
            <a:ext cx="8191500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spc="188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 FORWARD</a:t>
            </a:r>
            <a:endParaRPr lang="en-US" sz="975" dirty="0"/>
          </a:p>
        </p:txBody>
      </p:sp>
      <p:sp>
        <p:nvSpPr>
          <p:cNvPr id="7" name="TextBox 9"/>
          <p:cNvSpPr/>
          <p:nvPr/>
        </p:nvSpPr>
        <p:spPr>
          <a:xfrm>
            <a:off x="476250" y="1190625"/>
            <a:ext cx="8191500" cy="335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30 days</a:t>
            </a:r>
            <a:endParaRPr lang="en-US" sz="2400" dirty="0"/>
          </a:p>
        </p:txBody>
      </p:sp>
      <p:graphicFrame>
        <p:nvGraphicFramePr>
          <p:cNvPr id="4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905000"/>
          <a:ext cx="8191500" cy="914400"/>
        </p:xfrm>
        <a:graphic>
          <a:graphicData uri="http://schemas.openxmlformats.org/drawingml/2006/table">
            <a:tbl>
              <a:tblPr/>
              <a:tblGrid>
                <a:gridCol w="4186535"/>
                <a:gridCol w="2256011"/>
                <a:gridCol w="1748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highlight>
                            <a:srgbClr val="1F2A44"/>
                          </a:highlight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highlight>
                            <a:srgbClr val="1F2A44"/>
                          </a:highlight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highlight>
                            <a:srgbClr val="1F2A44"/>
                          </a:highlight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Due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Fleet ageing baseline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Fleet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2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card by brand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3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 queue clean-up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4</a:t>
                      </a:r>
                      <a:endParaRPr lang="en-US" sz="1125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8112" marR="138112" marT="109538" marB="10953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9" name="Shape 13"/>
          <p:cNvSpPr/>
          <p:nvPr/>
        </p:nvSpPr>
        <p:spPr>
          <a:xfrm>
            <a:off x="476250" y="3619500"/>
            <a:ext cx="57150" cy="571500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10" name="TextBox 15"/>
          <p:cNvSpPr/>
          <p:nvPr/>
        </p:nvSpPr>
        <p:spPr>
          <a:xfrm>
            <a:off x="666750" y="3619500"/>
            <a:ext cx="7620000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needed: confirm the three owners before the plan is drafted.</a:t>
            </a:r>
            <a:endParaRPr lang="en-US" sz="1275" dirty="0"/>
          </a:p>
        </p:txBody>
      </p:sp>
      <p:sp>
        <p:nvSpPr>
          <p:cNvPr id="11" name="TextBox 17"/>
          <p:cNvSpPr/>
          <p:nvPr/>
        </p:nvSpPr>
        <p:spPr>
          <a:xfrm>
            <a:off x="476250" y="4762500"/>
            <a:ext cx="5715000" cy="109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750" dirty="0"/>
          </a:p>
        </p:txBody>
      </p:sp>
      <p:sp>
        <p:nvSpPr>
          <p:cNvPr id="12" name="TextBox 18"/>
          <p:cNvSpPr/>
          <p:nvPr/>
        </p:nvSpPr>
        <p:spPr>
          <a:xfrm>
            <a:off x="8191500" y="4762500"/>
            <a:ext cx="476250" cy="109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deck</dc:title>
  <dc:subject>PptxGenJS Presentation</dc:subject>
  <dc:creator>Your name</dc:creator>
  <cp:lastModifiedBy>Your name</cp:lastModifiedBy>
  <cp:revision>1</cp:revision>
  <dcterms:created xsi:type="dcterms:W3CDTF">2026-09-16T19:46:16Z</dcterms:created>
  <dcterms:modified xsi:type="dcterms:W3CDTF">2026-09-16T19:46:16Z</dcterms:modified>
</cp:coreProperties>
</file>