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3"/>
          <p:cNvSpPr/>
          <p:nvPr/>
        </p:nvSpPr>
        <p:spPr>
          <a:xfrm>
            <a:off x="571500" y="476250"/>
            <a:ext cx="800100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 every bar is a div, so every bar is an editable shape</a:t>
            </a:r>
            <a:endParaRPr lang="en-US" sz="2100" dirty="0"/>
          </a:p>
        </p:txBody>
      </p:sp>
      <p:sp>
        <p:nvSpPr>
          <p:cNvPr id="4" name="Shape 5"/>
          <p:cNvSpPr/>
          <p:nvPr/>
        </p:nvSpPr>
        <p:spPr>
          <a:xfrm>
            <a:off x="952500" y="1524000"/>
            <a:ext cx="7429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Shape 6"/>
          <p:cNvSpPr/>
          <p:nvPr/>
        </p:nvSpPr>
        <p:spPr>
          <a:xfrm>
            <a:off x="952500" y="2119312"/>
            <a:ext cx="7429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Shape 7"/>
          <p:cNvSpPr/>
          <p:nvPr/>
        </p:nvSpPr>
        <p:spPr>
          <a:xfrm>
            <a:off x="952500" y="2714625"/>
            <a:ext cx="7429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" name="Shape 8"/>
          <p:cNvSpPr/>
          <p:nvPr/>
        </p:nvSpPr>
        <p:spPr>
          <a:xfrm>
            <a:off x="952500" y="3309938"/>
            <a:ext cx="7429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Box 10"/>
          <p:cNvSpPr/>
          <p:nvPr/>
        </p:nvSpPr>
        <p:spPr>
          <a:xfrm>
            <a:off x="333375" y="1452562"/>
            <a:ext cx="523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900" dirty="0"/>
          </a:p>
        </p:txBody>
      </p:sp>
      <p:sp>
        <p:nvSpPr>
          <p:cNvPr id="9" name="TextBox 12"/>
          <p:cNvSpPr/>
          <p:nvPr/>
        </p:nvSpPr>
        <p:spPr>
          <a:xfrm>
            <a:off x="333375" y="2643188"/>
            <a:ext cx="523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900" dirty="0"/>
          </a:p>
        </p:txBody>
      </p:sp>
      <p:sp>
        <p:nvSpPr>
          <p:cNvPr id="10" name="TextBox 14"/>
          <p:cNvSpPr/>
          <p:nvPr/>
        </p:nvSpPr>
        <p:spPr>
          <a:xfrm>
            <a:off x="333375" y="3833812"/>
            <a:ext cx="523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Shape 16"/>
          <p:cNvSpPr/>
          <p:nvPr/>
        </p:nvSpPr>
        <p:spPr>
          <a:xfrm>
            <a:off x="952500" y="3905250"/>
            <a:ext cx="742950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Shape 20"/>
          <p:cNvSpPr/>
          <p:nvPr/>
        </p:nvSpPr>
        <p:spPr>
          <a:xfrm>
            <a:off x="1238250" y="2714625"/>
            <a:ext cx="571500" cy="1190625"/>
          </a:xfrm>
          <a:prstGeom prst="roundRect">
            <a:avLst>
              <a:gd name="adj" fmla="val 3333"/>
            </a:avLst>
          </a:prstGeom>
          <a:solidFill>
            <a:srgbClr val="1F2A44"/>
          </a:solidFill>
          <a:ln/>
        </p:spPr>
      </p:sp>
      <p:sp>
        <p:nvSpPr>
          <p:cNvPr id="13" name="Shape 21"/>
          <p:cNvSpPr/>
          <p:nvPr/>
        </p:nvSpPr>
        <p:spPr>
          <a:xfrm>
            <a:off x="1857375" y="3190875"/>
            <a:ext cx="571500" cy="714375"/>
          </a:xfrm>
          <a:prstGeom prst="roundRect">
            <a:avLst>
              <a:gd name="adj" fmla="val 3333"/>
            </a:avLst>
          </a:prstGeom>
          <a:solidFill>
            <a:srgbClr val="E8590C"/>
          </a:solidFill>
          <a:ln/>
        </p:spPr>
      </p:sp>
      <p:sp>
        <p:nvSpPr>
          <p:cNvPr id="14" name="TextBox 22"/>
          <p:cNvSpPr/>
          <p:nvPr/>
        </p:nvSpPr>
        <p:spPr>
          <a:xfrm>
            <a:off x="1238250" y="4000500"/>
            <a:ext cx="1190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900" dirty="0"/>
          </a:p>
        </p:txBody>
      </p:sp>
      <p:sp>
        <p:nvSpPr>
          <p:cNvPr id="15" name="Shape 24"/>
          <p:cNvSpPr/>
          <p:nvPr/>
        </p:nvSpPr>
        <p:spPr>
          <a:xfrm>
            <a:off x="2476500" y="2476500"/>
            <a:ext cx="571500" cy="1428750"/>
          </a:xfrm>
          <a:prstGeom prst="roundRect">
            <a:avLst>
              <a:gd name="adj" fmla="val 3333"/>
            </a:avLst>
          </a:prstGeom>
          <a:solidFill>
            <a:srgbClr val="1F2A44"/>
          </a:solidFill>
          <a:ln/>
        </p:spPr>
      </p:sp>
      <p:sp>
        <p:nvSpPr>
          <p:cNvPr id="16" name="Shape 25"/>
          <p:cNvSpPr/>
          <p:nvPr/>
        </p:nvSpPr>
        <p:spPr>
          <a:xfrm>
            <a:off x="3095625" y="3009900"/>
            <a:ext cx="571500" cy="895350"/>
          </a:xfrm>
          <a:prstGeom prst="roundRect">
            <a:avLst>
              <a:gd name="adj" fmla="val 3333"/>
            </a:avLst>
          </a:prstGeom>
          <a:solidFill>
            <a:srgbClr val="E8590C"/>
          </a:solidFill>
          <a:ln/>
        </p:spPr>
      </p:sp>
      <p:sp>
        <p:nvSpPr>
          <p:cNvPr id="17" name="TextBox 26"/>
          <p:cNvSpPr/>
          <p:nvPr/>
        </p:nvSpPr>
        <p:spPr>
          <a:xfrm>
            <a:off x="2476500" y="4000500"/>
            <a:ext cx="1190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900" dirty="0"/>
          </a:p>
        </p:txBody>
      </p:sp>
      <p:sp>
        <p:nvSpPr>
          <p:cNvPr id="18" name="Shape 28"/>
          <p:cNvSpPr/>
          <p:nvPr/>
        </p:nvSpPr>
        <p:spPr>
          <a:xfrm>
            <a:off x="3714750" y="2119312"/>
            <a:ext cx="571500" cy="1785938"/>
          </a:xfrm>
          <a:prstGeom prst="roundRect">
            <a:avLst>
              <a:gd name="adj" fmla="val 3333"/>
            </a:avLst>
          </a:prstGeom>
          <a:solidFill>
            <a:srgbClr val="1F2A44"/>
          </a:solidFill>
          <a:ln/>
        </p:spPr>
      </p:sp>
      <p:sp>
        <p:nvSpPr>
          <p:cNvPr id="19" name="Shape 29"/>
          <p:cNvSpPr/>
          <p:nvPr/>
        </p:nvSpPr>
        <p:spPr>
          <a:xfrm>
            <a:off x="4333875" y="2833687"/>
            <a:ext cx="571500" cy="1071563"/>
          </a:xfrm>
          <a:prstGeom prst="roundRect">
            <a:avLst>
              <a:gd name="adj" fmla="val 3333"/>
            </a:avLst>
          </a:prstGeom>
          <a:solidFill>
            <a:srgbClr val="E8590C"/>
          </a:solidFill>
          <a:ln/>
        </p:spPr>
      </p:sp>
      <p:sp>
        <p:nvSpPr>
          <p:cNvPr id="20" name="TextBox 30"/>
          <p:cNvSpPr/>
          <p:nvPr/>
        </p:nvSpPr>
        <p:spPr>
          <a:xfrm>
            <a:off x="3714750" y="4000500"/>
            <a:ext cx="1190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900" dirty="0"/>
          </a:p>
        </p:txBody>
      </p:sp>
      <p:sp>
        <p:nvSpPr>
          <p:cNvPr id="21" name="Shape 32"/>
          <p:cNvSpPr/>
          <p:nvPr/>
        </p:nvSpPr>
        <p:spPr>
          <a:xfrm>
            <a:off x="4953000" y="2238375"/>
            <a:ext cx="571500" cy="1666875"/>
          </a:xfrm>
          <a:prstGeom prst="roundRect">
            <a:avLst>
              <a:gd name="adj" fmla="val 3333"/>
            </a:avLst>
          </a:prstGeom>
          <a:solidFill>
            <a:srgbClr val="1F2A44"/>
          </a:solidFill>
          <a:ln/>
        </p:spPr>
      </p:sp>
      <p:sp>
        <p:nvSpPr>
          <p:cNvPr id="22" name="Shape 33"/>
          <p:cNvSpPr/>
          <p:nvPr/>
        </p:nvSpPr>
        <p:spPr>
          <a:xfrm>
            <a:off x="5572125" y="2595563"/>
            <a:ext cx="571500" cy="1309687"/>
          </a:xfrm>
          <a:prstGeom prst="roundRect">
            <a:avLst>
              <a:gd name="adj" fmla="val 3333"/>
            </a:avLst>
          </a:prstGeom>
          <a:solidFill>
            <a:srgbClr val="E8590C"/>
          </a:solidFill>
          <a:ln/>
        </p:spPr>
      </p:sp>
      <p:sp>
        <p:nvSpPr>
          <p:cNvPr id="23" name="TextBox 34"/>
          <p:cNvSpPr/>
          <p:nvPr/>
        </p:nvSpPr>
        <p:spPr>
          <a:xfrm>
            <a:off x="4953000" y="4000500"/>
            <a:ext cx="1190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900" dirty="0"/>
          </a:p>
        </p:txBody>
      </p:sp>
      <p:sp>
        <p:nvSpPr>
          <p:cNvPr id="24" name="Shape 36"/>
          <p:cNvSpPr/>
          <p:nvPr/>
        </p:nvSpPr>
        <p:spPr>
          <a:xfrm>
            <a:off x="6191250" y="1762125"/>
            <a:ext cx="571500" cy="2143125"/>
          </a:xfrm>
          <a:prstGeom prst="roundRect">
            <a:avLst>
              <a:gd name="adj" fmla="val 3333"/>
            </a:avLst>
          </a:prstGeom>
          <a:solidFill>
            <a:srgbClr val="1F2A44"/>
          </a:solidFill>
          <a:ln/>
        </p:spPr>
      </p:sp>
      <p:sp>
        <p:nvSpPr>
          <p:cNvPr id="25" name="Shape 37"/>
          <p:cNvSpPr/>
          <p:nvPr/>
        </p:nvSpPr>
        <p:spPr>
          <a:xfrm>
            <a:off x="6810375" y="2414588"/>
            <a:ext cx="571500" cy="1490663"/>
          </a:xfrm>
          <a:prstGeom prst="roundRect">
            <a:avLst>
              <a:gd name="adj" fmla="val 3333"/>
            </a:avLst>
          </a:prstGeom>
          <a:solidFill>
            <a:srgbClr val="E8590C"/>
          </a:solidFill>
          <a:ln/>
        </p:spPr>
      </p:sp>
      <p:sp>
        <p:nvSpPr>
          <p:cNvPr id="26" name="TextBox 38"/>
          <p:cNvSpPr/>
          <p:nvPr/>
        </p:nvSpPr>
        <p:spPr>
          <a:xfrm>
            <a:off x="6191250" y="4000500"/>
            <a:ext cx="1190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900" dirty="0"/>
          </a:p>
        </p:txBody>
      </p:sp>
      <p:sp>
        <p:nvSpPr>
          <p:cNvPr id="27" name="TextBox 40"/>
          <p:cNvSpPr/>
          <p:nvPr/>
        </p:nvSpPr>
        <p:spPr>
          <a:xfrm>
            <a:off x="6191250" y="1571625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900" dirty="0"/>
          </a:p>
        </p:txBody>
      </p:sp>
      <p:sp>
        <p:nvSpPr>
          <p:cNvPr id="28" name="TextBox 41"/>
          <p:cNvSpPr/>
          <p:nvPr/>
        </p:nvSpPr>
        <p:spPr>
          <a:xfrm>
            <a:off x="6810375" y="2224088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43"/>
          <p:cNvSpPr/>
          <p:nvPr/>
        </p:nvSpPr>
        <p:spPr>
          <a:xfrm>
            <a:off x="6667500" y="1047750"/>
            <a:ext cx="114300" cy="1143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0" name="TextBox 44"/>
          <p:cNvSpPr/>
          <p:nvPr/>
        </p:nvSpPr>
        <p:spPr>
          <a:xfrm>
            <a:off x="6838950" y="10287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31" name="Shape 46"/>
          <p:cNvSpPr/>
          <p:nvPr/>
        </p:nvSpPr>
        <p:spPr>
          <a:xfrm>
            <a:off x="7620000" y="1047750"/>
            <a:ext cx="114300" cy="1143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2" name="TextBox 47"/>
          <p:cNvSpPr/>
          <p:nvPr/>
        </p:nvSpPr>
        <p:spPr>
          <a:xfrm>
            <a:off x="7791450" y="10287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3"/>
          <p:cNvSpPr/>
          <p:nvPr/>
        </p:nvSpPr>
        <p:spPr>
          <a:xfrm>
            <a:off x="571500" y="476250"/>
            <a:ext cx="800100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line: one inline SVG, kept as a vector</a:t>
            </a:r>
            <a:endParaRPr lang="en-US" sz="2100" dirty="0"/>
          </a:p>
        </p:txBody>
      </p:sp>
      <p:pic>
        <p:nvPicPr>
          <p:cNvPr id="4" name="Picture 5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047750"/>
            <a:ext cx="80010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3"/>
          <p:cNvSpPr/>
          <p:nvPr/>
        </p:nvSpPr>
        <p:spPr>
          <a:xfrm>
            <a:off x="571500" y="476250"/>
            <a:ext cx="800100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Combo: div bars, an SVG trend on top, a callout on top of that</a:t>
            </a:r>
            <a:endParaRPr lang="en-US" sz="2100" dirty="0"/>
          </a:p>
        </p:txBody>
      </p:sp>
      <p:sp>
        <p:nvSpPr>
          <p:cNvPr id="4" name="Shape 5"/>
          <p:cNvSpPr/>
          <p:nvPr/>
        </p:nvSpPr>
        <p:spPr>
          <a:xfrm>
            <a:off x="952500" y="1524000"/>
            <a:ext cx="7429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Shape 6"/>
          <p:cNvSpPr/>
          <p:nvPr/>
        </p:nvSpPr>
        <p:spPr>
          <a:xfrm>
            <a:off x="952500" y="2119312"/>
            <a:ext cx="7429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Shape 7"/>
          <p:cNvSpPr/>
          <p:nvPr/>
        </p:nvSpPr>
        <p:spPr>
          <a:xfrm>
            <a:off x="952500" y="2714625"/>
            <a:ext cx="7429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" name="Shape 8"/>
          <p:cNvSpPr/>
          <p:nvPr/>
        </p:nvSpPr>
        <p:spPr>
          <a:xfrm>
            <a:off x="952500" y="3309938"/>
            <a:ext cx="7429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Shape 10"/>
          <p:cNvSpPr/>
          <p:nvPr/>
        </p:nvSpPr>
        <p:spPr>
          <a:xfrm>
            <a:off x="952500" y="3905250"/>
            <a:ext cx="742950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12"/>
          <p:cNvSpPr/>
          <p:nvPr/>
        </p:nvSpPr>
        <p:spPr>
          <a:xfrm>
            <a:off x="1238250" y="2952750"/>
            <a:ext cx="857250" cy="952500"/>
          </a:xfrm>
          <a:prstGeom prst="roundRect">
            <a:avLst>
              <a:gd name="adj" fmla="val 2222"/>
            </a:avLst>
          </a:prstGeom>
          <a:solidFill>
            <a:srgbClr val="1F2A44"/>
          </a:solidFill>
          <a:ln/>
        </p:spPr>
      </p:sp>
      <p:sp>
        <p:nvSpPr>
          <p:cNvPr id="10" name="Shape 14"/>
          <p:cNvSpPr/>
          <p:nvPr/>
        </p:nvSpPr>
        <p:spPr>
          <a:xfrm>
            <a:off x="2476500" y="2667000"/>
            <a:ext cx="857250" cy="1238250"/>
          </a:xfrm>
          <a:prstGeom prst="roundRect">
            <a:avLst>
              <a:gd name="adj" fmla="val 2222"/>
            </a:avLst>
          </a:prstGeom>
          <a:solidFill>
            <a:srgbClr val="1F2A44"/>
          </a:solidFill>
          <a:ln/>
        </p:spPr>
      </p:sp>
      <p:sp>
        <p:nvSpPr>
          <p:cNvPr id="11" name="Shape 16"/>
          <p:cNvSpPr/>
          <p:nvPr/>
        </p:nvSpPr>
        <p:spPr>
          <a:xfrm>
            <a:off x="3714750" y="2857500"/>
            <a:ext cx="857250" cy="1047750"/>
          </a:xfrm>
          <a:prstGeom prst="roundRect">
            <a:avLst>
              <a:gd name="adj" fmla="val 2222"/>
            </a:avLst>
          </a:prstGeom>
          <a:solidFill>
            <a:srgbClr val="1F2A44"/>
          </a:solidFill>
          <a:ln/>
        </p:spPr>
      </p:sp>
      <p:sp>
        <p:nvSpPr>
          <p:cNvPr id="12" name="Shape 18"/>
          <p:cNvSpPr/>
          <p:nvPr/>
        </p:nvSpPr>
        <p:spPr>
          <a:xfrm>
            <a:off x="4953000" y="2238375"/>
            <a:ext cx="857250" cy="1666875"/>
          </a:xfrm>
          <a:prstGeom prst="roundRect">
            <a:avLst>
              <a:gd name="adj" fmla="val 2222"/>
            </a:avLst>
          </a:prstGeom>
          <a:solidFill>
            <a:srgbClr val="1F2A44"/>
          </a:solidFill>
          <a:ln/>
        </p:spPr>
      </p:sp>
      <p:sp>
        <p:nvSpPr>
          <p:cNvPr id="13" name="Shape 20"/>
          <p:cNvSpPr/>
          <p:nvPr/>
        </p:nvSpPr>
        <p:spPr>
          <a:xfrm>
            <a:off x="6191250" y="1905000"/>
            <a:ext cx="857250" cy="2000250"/>
          </a:xfrm>
          <a:prstGeom prst="roundRect">
            <a:avLst>
              <a:gd name="adj" fmla="val 2222"/>
            </a:avLst>
          </a:prstGeom>
          <a:solidFill>
            <a:srgbClr val="1F2A44"/>
          </a:solidFill>
          <a:ln/>
        </p:spPr>
      </p:sp>
      <p:sp>
        <p:nvSpPr>
          <p:cNvPr id="14" name="Shape 22"/>
          <p:cNvSpPr/>
          <p:nvPr/>
        </p:nvSpPr>
        <p:spPr>
          <a:xfrm>
            <a:off x="7429500" y="1619250"/>
            <a:ext cx="857250" cy="2286000"/>
          </a:xfrm>
          <a:prstGeom prst="roundRect">
            <a:avLst>
              <a:gd name="adj" fmla="val 2222"/>
            </a:avLst>
          </a:prstGeom>
          <a:solidFill>
            <a:srgbClr val="1F2A44"/>
          </a:solidFill>
          <a:ln/>
        </p:spPr>
      </p:sp>
      <p:sp>
        <p:nvSpPr>
          <p:cNvPr id="15" name="TextBox 24"/>
          <p:cNvSpPr/>
          <p:nvPr/>
        </p:nvSpPr>
        <p:spPr>
          <a:xfrm>
            <a:off x="1381125" y="40005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900" dirty="0"/>
          </a:p>
        </p:txBody>
      </p:sp>
      <p:sp>
        <p:nvSpPr>
          <p:cNvPr id="16" name="TextBox 25"/>
          <p:cNvSpPr/>
          <p:nvPr/>
        </p:nvSpPr>
        <p:spPr>
          <a:xfrm>
            <a:off x="2619375" y="40005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900" dirty="0"/>
          </a:p>
        </p:txBody>
      </p:sp>
      <p:sp>
        <p:nvSpPr>
          <p:cNvPr id="17" name="TextBox 26"/>
          <p:cNvSpPr/>
          <p:nvPr/>
        </p:nvSpPr>
        <p:spPr>
          <a:xfrm>
            <a:off x="3857625" y="40005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900" dirty="0"/>
          </a:p>
        </p:txBody>
      </p:sp>
      <p:sp>
        <p:nvSpPr>
          <p:cNvPr id="18" name="TextBox 27"/>
          <p:cNvSpPr/>
          <p:nvPr/>
        </p:nvSpPr>
        <p:spPr>
          <a:xfrm>
            <a:off x="5095875" y="40005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900" dirty="0"/>
          </a:p>
        </p:txBody>
      </p:sp>
      <p:sp>
        <p:nvSpPr>
          <p:cNvPr id="19" name="TextBox 28"/>
          <p:cNvSpPr/>
          <p:nvPr/>
        </p:nvSpPr>
        <p:spPr>
          <a:xfrm>
            <a:off x="6334125" y="40005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900" dirty="0"/>
          </a:p>
        </p:txBody>
      </p:sp>
      <p:sp>
        <p:nvSpPr>
          <p:cNvPr id="20" name="TextBox 29"/>
          <p:cNvSpPr/>
          <p:nvPr/>
        </p:nvSpPr>
        <p:spPr>
          <a:xfrm>
            <a:off x="7572375" y="40005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900" dirty="0"/>
          </a:p>
        </p:txBody>
      </p:sp>
      <p:pic>
        <p:nvPicPr>
          <p:cNvPr id="21" name="Picture 3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2" name="TextBox 33"/>
          <p:cNvSpPr/>
          <p:nvPr/>
        </p:nvSpPr>
        <p:spPr>
          <a:xfrm>
            <a:off x="5619750" y="1190625"/>
            <a:ext cx="2257425" cy="681856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14288">
            <a:solidFill>
              <a:srgbClr val="E8590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5000"/>
              </a:srgbClr>
            </a:outerShdw>
          </a:effectLst>
        </p:spPr>
        <p:txBody>
          <a:bodyPr wrap="square" lIns="114300" tIns="95250" rIns="114300" bIns="9525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turned in July.</a:t>
            </a:r>
            <a:endParaRPr lang="en-US" sz="900" dirty="0"/>
          </a:p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 by brand went live on the 3rd.</a:t>
            </a:r>
            <a:endParaRPr lang="en-US" sz="900" dirty="0"/>
          </a:p>
        </p:txBody>
      </p:sp>
      <p:sp>
        <p:nvSpPr>
          <p:cNvPr id="23" name="Shape 35"/>
          <p:cNvSpPr/>
          <p:nvPr/>
        </p:nvSpPr>
        <p:spPr>
          <a:xfrm rot="-2100000">
            <a:off x="6667500" y="1643062"/>
            <a:ext cx="19050" cy="333375"/>
          </a:xfrm>
          <a:prstGeom prst="rect">
            <a:avLst/>
          </a:prstGeom>
          <a:solidFill>
            <a:srgbClr val="E8590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examples</dc:title>
  <dc:subject>PptxGenJS Presentation</dc:subject>
  <dc:creator>HTML to PPTX</dc:creator>
  <cp:lastModifiedBy>HTML to PPTX</cp:lastModifiedBy>
  <cp:revision>1</cp:revision>
  <dcterms:created xsi:type="dcterms:W3CDTF">2026-09-16T20:16:52Z</dcterms:created>
  <dcterms:modified xsi:type="dcterms:W3CDTF">2026-09-16T20:16:52Z</dcterms:modified>
</cp:coreProperties>
</file>