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3"/>
          <p:cNvSpPr/>
          <p:nvPr/>
        </p:nvSpPr>
        <p:spPr>
          <a:xfrm>
            <a:off x="981075" y="40005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</a:t>
            </a:r>
            <a:endParaRPr lang="en-US" sz="1125" dirty="0"/>
          </a:p>
        </p:txBody>
      </p:sp>
      <p:sp>
        <p:nvSpPr>
          <p:cNvPr id="4" name="TextBox 4"/>
          <p:cNvSpPr/>
          <p:nvPr/>
        </p:nvSpPr>
        <p:spPr>
          <a:xfrm>
            <a:off x="571500" y="95250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· HALF YEAR ON HALF YEAR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1190625"/>
            <a:ext cx="762000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385"/>
              </a:lnSpc>
              <a:buNone/>
            </a:pPr>
            <a:r>
              <a:rPr lang="en-US" sz="22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up 13 on 66 more revenue</a:t>
            </a:r>
            <a:endParaRPr lang="en-US" sz="2250" dirty="0"/>
          </a:p>
        </p:txBody>
      </p:sp>
      <p:sp>
        <p:nvSpPr>
          <p:cNvPr id="6" name="TextBox 6"/>
          <p:cNvSpPr/>
          <p:nvPr/>
        </p:nvSpPr>
        <p:spPr>
          <a:xfrm>
            <a:off x="571500" y="2047875"/>
            <a:ext cx="2476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THOUSAND</a:t>
            </a:r>
            <a:endParaRPr lang="en-US" sz="675" dirty="0"/>
          </a:p>
        </p:txBody>
      </p:sp>
      <p:sp>
        <p:nvSpPr>
          <p:cNvPr id="7" name="TextBox 7"/>
          <p:cNvSpPr/>
          <p:nvPr/>
        </p:nvSpPr>
        <p:spPr>
          <a:xfrm>
            <a:off x="3048000" y="2047875"/>
            <a:ext cx="1047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2026</a:t>
            </a:r>
            <a:endParaRPr lang="en-US" sz="675" dirty="0"/>
          </a:p>
        </p:txBody>
      </p:sp>
      <p:sp>
        <p:nvSpPr>
          <p:cNvPr id="8" name="TextBox 8"/>
          <p:cNvSpPr/>
          <p:nvPr/>
        </p:nvSpPr>
        <p:spPr>
          <a:xfrm>
            <a:off x="4095750" y="2047875"/>
            <a:ext cx="1047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2026</a:t>
            </a:r>
            <a:endParaRPr lang="en-US" sz="675" dirty="0"/>
          </a:p>
        </p:txBody>
      </p:sp>
      <p:sp>
        <p:nvSpPr>
          <p:cNvPr id="9" name="TextBox 9"/>
          <p:cNvSpPr/>
          <p:nvPr/>
        </p:nvSpPr>
        <p:spPr>
          <a:xfrm>
            <a:off x="5143500" y="2047875"/>
            <a:ext cx="8572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675" dirty="0"/>
          </a:p>
        </p:txBody>
      </p:sp>
      <p:sp>
        <p:nvSpPr>
          <p:cNvPr id="10" name="TextBox 10"/>
          <p:cNvSpPr/>
          <p:nvPr/>
        </p:nvSpPr>
        <p:spPr>
          <a:xfrm>
            <a:off x="6000750" y="2047875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75" dirty="0"/>
          </a:p>
        </p:txBody>
      </p:sp>
      <p:sp>
        <p:nvSpPr>
          <p:cNvPr id="11" name="TextBox 11"/>
          <p:cNvSpPr/>
          <p:nvPr/>
        </p:nvSpPr>
        <p:spPr>
          <a:xfrm>
            <a:off x="6667500" y="2047875"/>
            <a:ext cx="1905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VARIANCE, BAR</a:t>
            </a:r>
            <a:endParaRPr lang="en-US" sz="675" dirty="0"/>
          </a:p>
        </p:txBody>
      </p:sp>
      <p:sp>
        <p:nvSpPr>
          <p:cNvPr id="12" name="Shape 12"/>
          <p:cNvSpPr/>
          <p:nvPr/>
        </p:nvSpPr>
        <p:spPr>
          <a:xfrm>
            <a:off x="571500" y="2238375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Box 13"/>
          <p:cNvSpPr/>
          <p:nvPr/>
        </p:nvSpPr>
        <p:spPr>
          <a:xfrm>
            <a:off x="571500" y="231457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75" dirty="0"/>
          </a:p>
        </p:txBody>
      </p:sp>
      <p:sp>
        <p:nvSpPr>
          <p:cNvPr id="14" name="TextBox 14"/>
          <p:cNvSpPr/>
          <p:nvPr/>
        </p:nvSpPr>
        <p:spPr>
          <a:xfrm>
            <a:off x="3048000" y="23145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</a:t>
            </a:r>
            <a:endParaRPr lang="en-US" sz="975" dirty="0"/>
          </a:p>
        </p:txBody>
      </p:sp>
      <p:sp>
        <p:nvSpPr>
          <p:cNvPr id="15" name="TextBox 15"/>
          <p:cNvSpPr/>
          <p:nvPr/>
        </p:nvSpPr>
        <p:spPr>
          <a:xfrm>
            <a:off x="4095750" y="23145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975" dirty="0"/>
          </a:p>
        </p:txBody>
      </p:sp>
      <p:sp>
        <p:nvSpPr>
          <p:cNvPr id="16" name="TextBox 16"/>
          <p:cNvSpPr/>
          <p:nvPr/>
        </p:nvSpPr>
        <p:spPr>
          <a:xfrm>
            <a:off x="5143500" y="231457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+66</a:t>
            </a:r>
            <a:endParaRPr lang="en-US" sz="975" dirty="0"/>
          </a:p>
        </p:txBody>
      </p:sp>
      <p:sp>
        <p:nvSpPr>
          <p:cNvPr id="17" name="TextBox 17"/>
          <p:cNvSpPr/>
          <p:nvPr/>
        </p:nvSpPr>
        <p:spPr>
          <a:xfrm>
            <a:off x="6000750" y="231457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+15.7%</a:t>
            </a:r>
            <a:endParaRPr lang="en-US" sz="975" dirty="0"/>
          </a:p>
        </p:txBody>
      </p:sp>
      <p:sp>
        <p:nvSpPr>
          <p:cNvPr id="18" name="Shape 18"/>
          <p:cNvSpPr/>
          <p:nvPr/>
        </p:nvSpPr>
        <p:spPr>
          <a:xfrm>
            <a:off x="7620000" y="2352675"/>
            <a:ext cx="809625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9" name="Shape 19"/>
          <p:cNvSpPr/>
          <p:nvPr/>
        </p:nvSpPr>
        <p:spPr>
          <a:xfrm>
            <a:off x="571500" y="2524125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Box 20"/>
          <p:cNvSpPr/>
          <p:nvPr/>
        </p:nvSpPr>
        <p:spPr>
          <a:xfrm>
            <a:off x="571500" y="256222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delivery</a:t>
            </a:r>
            <a:endParaRPr lang="en-US" sz="975" dirty="0"/>
          </a:p>
        </p:txBody>
      </p:sp>
      <p:sp>
        <p:nvSpPr>
          <p:cNvPr id="21" name="TextBox 21"/>
          <p:cNvSpPr/>
          <p:nvPr/>
        </p:nvSpPr>
        <p:spPr>
          <a:xfrm>
            <a:off x="3048000" y="25622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-231</a:t>
            </a:r>
            <a:endParaRPr lang="en-US" sz="975" dirty="0"/>
          </a:p>
        </p:txBody>
      </p:sp>
      <p:sp>
        <p:nvSpPr>
          <p:cNvPr id="22" name="TextBox 22"/>
          <p:cNvSpPr/>
          <p:nvPr/>
        </p:nvSpPr>
        <p:spPr>
          <a:xfrm>
            <a:off x="4095750" y="25622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-262</a:t>
            </a:r>
            <a:endParaRPr lang="en-US" sz="975" dirty="0"/>
          </a:p>
        </p:txBody>
      </p:sp>
      <p:sp>
        <p:nvSpPr>
          <p:cNvPr id="23" name="TextBox 23"/>
          <p:cNvSpPr/>
          <p:nvPr/>
        </p:nvSpPr>
        <p:spPr>
          <a:xfrm>
            <a:off x="5143500" y="256222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</a:t>
            </a:r>
            <a:endParaRPr lang="en-US" sz="975" dirty="0"/>
          </a:p>
        </p:txBody>
      </p:sp>
      <p:sp>
        <p:nvSpPr>
          <p:cNvPr id="24" name="TextBox 24"/>
          <p:cNvSpPr/>
          <p:nvPr/>
        </p:nvSpPr>
        <p:spPr>
          <a:xfrm>
            <a:off x="6000750" y="256222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-13.4%</a:t>
            </a:r>
            <a:endParaRPr lang="en-US" sz="975" dirty="0"/>
          </a:p>
        </p:txBody>
      </p:sp>
      <p:sp>
        <p:nvSpPr>
          <p:cNvPr id="25" name="Shape 25"/>
          <p:cNvSpPr/>
          <p:nvPr/>
        </p:nvSpPr>
        <p:spPr>
          <a:xfrm>
            <a:off x="7239000" y="2600325"/>
            <a:ext cx="381000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26" name="Shape 26"/>
          <p:cNvSpPr/>
          <p:nvPr/>
        </p:nvSpPr>
        <p:spPr>
          <a:xfrm>
            <a:off x="571500" y="2771775"/>
            <a:ext cx="80010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TextBox 27"/>
          <p:cNvSpPr/>
          <p:nvPr/>
        </p:nvSpPr>
        <p:spPr>
          <a:xfrm>
            <a:off x="571500" y="280987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975" dirty="0"/>
          </a:p>
        </p:txBody>
      </p:sp>
      <p:sp>
        <p:nvSpPr>
          <p:cNvPr id="28" name="TextBox 28"/>
          <p:cNvSpPr/>
          <p:nvPr/>
        </p:nvSpPr>
        <p:spPr>
          <a:xfrm>
            <a:off x="3048000" y="28098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</a:t>
            </a:r>
            <a:endParaRPr lang="en-US" sz="975" dirty="0"/>
          </a:p>
        </p:txBody>
      </p:sp>
      <p:sp>
        <p:nvSpPr>
          <p:cNvPr id="29" name="TextBox 29"/>
          <p:cNvSpPr/>
          <p:nvPr/>
        </p:nvSpPr>
        <p:spPr>
          <a:xfrm>
            <a:off x="4095750" y="28098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</a:t>
            </a:r>
            <a:endParaRPr lang="en-US" sz="975" dirty="0"/>
          </a:p>
        </p:txBody>
      </p:sp>
      <p:sp>
        <p:nvSpPr>
          <p:cNvPr id="30" name="TextBox 30"/>
          <p:cNvSpPr/>
          <p:nvPr/>
        </p:nvSpPr>
        <p:spPr>
          <a:xfrm>
            <a:off x="5143500" y="280987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</a:t>
            </a:r>
            <a:endParaRPr lang="en-US" sz="975" dirty="0"/>
          </a:p>
        </p:txBody>
      </p:sp>
      <p:sp>
        <p:nvSpPr>
          <p:cNvPr id="31" name="TextBox 31"/>
          <p:cNvSpPr/>
          <p:nvPr/>
        </p:nvSpPr>
        <p:spPr>
          <a:xfrm>
            <a:off x="6000750" y="280987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+18.5%</a:t>
            </a:r>
            <a:endParaRPr lang="en-US" sz="975" dirty="0"/>
          </a:p>
        </p:txBody>
      </p:sp>
      <p:sp>
        <p:nvSpPr>
          <p:cNvPr id="32" name="Shape 32"/>
          <p:cNvSpPr/>
          <p:nvPr/>
        </p:nvSpPr>
        <p:spPr>
          <a:xfrm>
            <a:off x="7620000" y="2847975"/>
            <a:ext cx="428625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33" name="Shape 33"/>
          <p:cNvSpPr/>
          <p:nvPr/>
        </p:nvSpPr>
        <p:spPr>
          <a:xfrm>
            <a:off x="571500" y="3019425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Box 34"/>
          <p:cNvSpPr/>
          <p:nvPr/>
        </p:nvSpPr>
        <p:spPr>
          <a:xfrm>
            <a:off x="571500" y="305752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marketing</a:t>
            </a:r>
            <a:endParaRPr lang="en-US" sz="975" dirty="0"/>
          </a:p>
        </p:txBody>
      </p:sp>
      <p:sp>
        <p:nvSpPr>
          <p:cNvPr id="35" name="TextBox 35"/>
          <p:cNvSpPr/>
          <p:nvPr/>
        </p:nvSpPr>
        <p:spPr>
          <a:xfrm>
            <a:off x="3048000" y="30575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-48</a:t>
            </a:r>
            <a:endParaRPr lang="en-US" sz="975" dirty="0"/>
          </a:p>
        </p:txBody>
      </p:sp>
      <p:sp>
        <p:nvSpPr>
          <p:cNvPr id="36" name="TextBox 36"/>
          <p:cNvSpPr/>
          <p:nvPr/>
        </p:nvSpPr>
        <p:spPr>
          <a:xfrm>
            <a:off x="4095750" y="30575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-61</a:t>
            </a:r>
            <a:endParaRPr lang="en-US" sz="975" dirty="0"/>
          </a:p>
        </p:txBody>
      </p:sp>
      <p:sp>
        <p:nvSpPr>
          <p:cNvPr id="37" name="TextBox 37"/>
          <p:cNvSpPr/>
          <p:nvPr/>
        </p:nvSpPr>
        <p:spPr>
          <a:xfrm>
            <a:off x="5143500" y="305752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</a:t>
            </a:r>
            <a:endParaRPr lang="en-US" sz="975" dirty="0"/>
          </a:p>
        </p:txBody>
      </p:sp>
      <p:sp>
        <p:nvSpPr>
          <p:cNvPr id="38" name="TextBox 38"/>
          <p:cNvSpPr/>
          <p:nvPr/>
        </p:nvSpPr>
        <p:spPr>
          <a:xfrm>
            <a:off x="6000750" y="305752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-27.1%</a:t>
            </a:r>
            <a:endParaRPr lang="en-US" sz="975" dirty="0"/>
          </a:p>
        </p:txBody>
      </p:sp>
      <p:sp>
        <p:nvSpPr>
          <p:cNvPr id="39" name="Shape 39"/>
          <p:cNvSpPr/>
          <p:nvPr/>
        </p:nvSpPr>
        <p:spPr>
          <a:xfrm>
            <a:off x="7462837" y="3095625"/>
            <a:ext cx="157163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40" name="Shape 40"/>
          <p:cNvSpPr/>
          <p:nvPr/>
        </p:nvSpPr>
        <p:spPr>
          <a:xfrm>
            <a:off x="571500" y="3267075"/>
            <a:ext cx="80010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1" name="TextBox 41"/>
          <p:cNvSpPr/>
          <p:nvPr/>
        </p:nvSpPr>
        <p:spPr>
          <a:xfrm>
            <a:off x="571500" y="330517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engineering</a:t>
            </a:r>
            <a:endParaRPr lang="en-US" sz="975" dirty="0"/>
          </a:p>
        </p:txBody>
      </p:sp>
      <p:sp>
        <p:nvSpPr>
          <p:cNvPr id="42" name="TextBox 42"/>
          <p:cNvSpPr/>
          <p:nvPr/>
        </p:nvSpPr>
        <p:spPr>
          <a:xfrm>
            <a:off x="3048000" y="33051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-72</a:t>
            </a:r>
            <a:endParaRPr lang="en-US" sz="975" dirty="0"/>
          </a:p>
        </p:txBody>
      </p:sp>
      <p:sp>
        <p:nvSpPr>
          <p:cNvPr id="43" name="TextBox 43"/>
          <p:cNvSpPr/>
          <p:nvPr/>
        </p:nvSpPr>
        <p:spPr>
          <a:xfrm>
            <a:off x="4095750" y="33051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</a:t>
            </a:r>
            <a:endParaRPr lang="en-US" sz="975" dirty="0"/>
          </a:p>
        </p:txBody>
      </p:sp>
      <p:sp>
        <p:nvSpPr>
          <p:cNvPr id="44" name="TextBox 44"/>
          <p:cNvSpPr/>
          <p:nvPr/>
        </p:nvSpPr>
        <p:spPr>
          <a:xfrm>
            <a:off x="5143500" y="330517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975" dirty="0"/>
          </a:p>
        </p:txBody>
      </p:sp>
      <p:sp>
        <p:nvSpPr>
          <p:cNvPr id="45" name="TextBox 45"/>
          <p:cNvSpPr/>
          <p:nvPr/>
        </p:nvSpPr>
        <p:spPr>
          <a:xfrm>
            <a:off x="6000750" y="330517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-11.1%</a:t>
            </a:r>
            <a:endParaRPr lang="en-US" sz="975" dirty="0"/>
          </a:p>
        </p:txBody>
      </p:sp>
      <p:sp>
        <p:nvSpPr>
          <p:cNvPr id="46" name="Shape 46"/>
          <p:cNvSpPr/>
          <p:nvPr/>
        </p:nvSpPr>
        <p:spPr>
          <a:xfrm>
            <a:off x="7519987" y="3343275"/>
            <a:ext cx="100013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47" name="Shape 47"/>
          <p:cNvSpPr/>
          <p:nvPr/>
        </p:nvSpPr>
        <p:spPr>
          <a:xfrm>
            <a:off x="571500" y="3514725"/>
            <a:ext cx="80010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8" name="TextBox 48"/>
          <p:cNvSpPr/>
          <p:nvPr/>
        </p:nvSpPr>
        <p:spPr>
          <a:xfrm>
            <a:off x="571500" y="355282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and admin</a:t>
            </a:r>
            <a:endParaRPr lang="en-US" sz="975" dirty="0"/>
          </a:p>
        </p:txBody>
      </p:sp>
      <p:sp>
        <p:nvSpPr>
          <p:cNvPr id="49" name="TextBox 49"/>
          <p:cNvSpPr/>
          <p:nvPr/>
        </p:nvSpPr>
        <p:spPr>
          <a:xfrm>
            <a:off x="3048000" y="35528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</a:t>
            </a:r>
            <a:endParaRPr lang="en-US" sz="975" dirty="0"/>
          </a:p>
        </p:txBody>
      </p:sp>
      <p:sp>
        <p:nvSpPr>
          <p:cNvPr id="50" name="TextBox 50"/>
          <p:cNvSpPr/>
          <p:nvPr/>
        </p:nvSpPr>
        <p:spPr>
          <a:xfrm>
            <a:off x="4095750" y="35528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-36</a:t>
            </a:r>
            <a:endParaRPr lang="en-US" sz="975" dirty="0"/>
          </a:p>
        </p:txBody>
      </p:sp>
      <p:sp>
        <p:nvSpPr>
          <p:cNvPr id="51" name="TextBox 51"/>
          <p:cNvSpPr/>
          <p:nvPr/>
        </p:nvSpPr>
        <p:spPr>
          <a:xfrm>
            <a:off x="5143500" y="355282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</a:t>
            </a:r>
            <a:endParaRPr lang="en-US" sz="975" dirty="0"/>
          </a:p>
        </p:txBody>
      </p:sp>
      <p:sp>
        <p:nvSpPr>
          <p:cNvPr id="52" name="TextBox 52"/>
          <p:cNvSpPr/>
          <p:nvPr/>
        </p:nvSpPr>
        <p:spPr>
          <a:xfrm>
            <a:off x="6000750" y="355282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-2.9%</a:t>
            </a:r>
            <a:endParaRPr lang="en-US" sz="975" dirty="0"/>
          </a:p>
        </p:txBody>
      </p:sp>
      <p:sp>
        <p:nvSpPr>
          <p:cNvPr id="53" name="Shape 53"/>
          <p:cNvSpPr/>
          <p:nvPr/>
        </p:nvSpPr>
        <p:spPr>
          <a:xfrm>
            <a:off x="7605712" y="3590925"/>
            <a:ext cx="14288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54" name="Shape 54"/>
          <p:cNvSpPr/>
          <p:nvPr/>
        </p:nvSpPr>
        <p:spPr>
          <a:xfrm>
            <a:off x="571500" y="3762375"/>
            <a:ext cx="80010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5" name="TextBox 55"/>
          <p:cNvSpPr/>
          <p:nvPr/>
        </p:nvSpPr>
        <p:spPr>
          <a:xfrm>
            <a:off x="571500" y="380047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75" dirty="0"/>
          </a:p>
        </p:txBody>
      </p:sp>
      <p:sp>
        <p:nvSpPr>
          <p:cNvPr id="56" name="TextBox 56"/>
          <p:cNvSpPr/>
          <p:nvPr/>
        </p:nvSpPr>
        <p:spPr>
          <a:xfrm>
            <a:off x="3048000" y="38004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75" dirty="0"/>
          </a:p>
        </p:txBody>
      </p:sp>
      <p:sp>
        <p:nvSpPr>
          <p:cNvPr id="57" name="TextBox 57"/>
          <p:cNvSpPr/>
          <p:nvPr/>
        </p:nvSpPr>
        <p:spPr>
          <a:xfrm>
            <a:off x="4095750" y="38004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75" dirty="0"/>
          </a:p>
        </p:txBody>
      </p:sp>
      <p:sp>
        <p:nvSpPr>
          <p:cNvPr id="58" name="TextBox 58"/>
          <p:cNvSpPr/>
          <p:nvPr/>
        </p:nvSpPr>
        <p:spPr>
          <a:xfrm>
            <a:off x="5143500" y="380047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</a:t>
            </a:r>
            <a:endParaRPr lang="en-US" sz="975" dirty="0"/>
          </a:p>
        </p:txBody>
      </p:sp>
      <p:sp>
        <p:nvSpPr>
          <p:cNvPr id="59" name="TextBox 59"/>
          <p:cNvSpPr/>
          <p:nvPr/>
        </p:nvSpPr>
        <p:spPr>
          <a:xfrm>
            <a:off x="6000750" y="380047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+38.2%</a:t>
            </a:r>
            <a:endParaRPr lang="en-US" sz="975" dirty="0"/>
          </a:p>
        </p:txBody>
      </p:sp>
      <p:sp>
        <p:nvSpPr>
          <p:cNvPr id="60" name="Shape 60"/>
          <p:cNvSpPr/>
          <p:nvPr/>
        </p:nvSpPr>
        <p:spPr>
          <a:xfrm>
            <a:off x="7620000" y="3838575"/>
            <a:ext cx="157163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61" name="Shape 61"/>
          <p:cNvSpPr/>
          <p:nvPr/>
        </p:nvSpPr>
        <p:spPr>
          <a:xfrm>
            <a:off x="571500" y="4010025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2" name="TextBox 62"/>
          <p:cNvSpPr/>
          <p:nvPr/>
        </p:nvSpPr>
        <p:spPr>
          <a:xfrm>
            <a:off x="571500" y="404812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</a:t>
            </a:r>
            <a:endParaRPr lang="en-US" sz="975" dirty="0"/>
          </a:p>
        </p:txBody>
      </p:sp>
      <p:sp>
        <p:nvSpPr>
          <p:cNvPr id="63" name="TextBox 63"/>
          <p:cNvSpPr/>
          <p:nvPr/>
        </p:nvSpPr>
        <p:spPr>
          <a:xfrm>
            <a:off x="3048000" y="40481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</a:t>
            </a:r>
            <a:endParaRPr lang="en-US" sz="975" dirty="0"/>
          </a:p>
        </p:txBody>
      </p:sp>
      <p:sp>
        <p:nvSpPr>
          <p:cNvPr id="64" name="TextBox 64"/>
          <p:cNvSpPr/>
          <p:nvPr/>
        </p:nvSpPr>
        <p:spPr>
          <a:xfrm>
            <a:off x="4095750" y="404812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</a:t>
            </a:r>
            <a:endParaRPr lang="en-US" sz="975" dirty="0"/>
          </a:p>
        </p:txBody>
      </p:sp>
      <p:sp>
        <p:nvSpPr>
          <p:cNvPr id="65" name="TextBox 65"/>
          <p:cNvSpPr/>
          <p:nvPr/>
        </p:nvSpPr>
        <p:spPr>
          <a:xfrm>
            <a:off x="5143500" y="404812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75" dirty="0"/>
          </a:p>
        </p:txBody>
      </p:sp>
      <p:sp>
        <p:nvSpPr>
          <p:cNvPr id="66" name="TextBox 66"/>
          <p:cNvSpPr/>
          <p:nvPr/>
        </p:nvSpPr>
        <p:spPr>
          <a:xfrm>
            <a:off x="6000750" y="404812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975" dirty="0"/>
          </a:p>
        </p:txBody>
      </p:sp>
      <p:sp>
        <p:nvSpPr>
          <p:cNvPr id="67" name="Shape 67"/>
          <p:cNvSpPr/>
          <p:nvPr/>
        </p:nvSpPr>
        <p:spPr>
          <a:xfrm>
            <a:off x="7620000" y="4086225"/>
            <a:ext cx="9525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68" name="Shape 68"/>
          <p:cNvSpPr/>
          <p:nvPr/>
        </p:nvSpPr>
        <p:spPr>
          <a:xfrm>
            <a:off x="571500" y="4257675"/>
            <a:ext cx="8001000" cy="476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9" name="TextBox 69"/>
          <p:cNvSpPr/>
          <p:nvPr/>
        </p:nvSpPr>
        <p:spPr>
          <a:xfrm>
            <a:off x="571500" y="4295775"/>
            <a:ext cx="2476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975" dirty="0"/>
          </a:p>
        </p:txBody>
      </p:sp>
      <p:sp>
        <p:nvSpPr>
          <p:cNvPr id="70" name="TextBox 70"/>
          <p:cNvSpPr/>
          <p:nvPr/>
        </p:nvSpPr>
        <p:spPr>
          <a:xfrm>
            <a:off x="3048000" y="42957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75" dirty="0"/>
          </a:p>
        </p:txBody>
      </p:sp>
      <p:sp>
        <p:nvSpPr>
          <p:cNvPr id="71" name="TextBox 71"/>
          <p:cNvSpPr/>
          <p:nvPr/>
        </p:nvSpPr>
        <p:spPr>
          <a:xfrm>
            <a:off x="4095750" y="4295775"/>
            <a:ext cx="10477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75" dirty="0"/>
          </a:p>
        </p:txBody>
      </p:sp>
      <p:sp>
        <p:nvSpPr>
          <p:cNvPr id="72" name="TextBox 72"/>
          <p:cNvSpPr/>
          <p:nvPr/>
        </p:nvSpPr>
        <p:spPr>
          <a:xfrm>
            <a:off x="5143500" y="4295775"/>
            <a:ext cx="8572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</a:t>
            </a:r>
            <a:endParaRPr lang="en-US" sz="975" dirty="0"/>
          </a:p>
        </p:txBody>
      </p:sp>
      <p:sp>
        <p:nvSpPr>
          <p:cNvPr id="73" name="TextBox 73"/>
          <p:cNvSpPr/>
          <p:nvPr/>
        </p:nvSpPr>
        <p:spPr>
          <a:xfrm>
            <a:off x="6000750" y="4295775"/>
            <a:ext cx="571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+52.0%</a:t>
            </a:r>
            <a:endParaRPr lang="en-US" sz="975" dirty="0"/>
          </a:p>
        </p:txBody>
      </p:sp>
      <p:sp>
        <p:nvSpPr>
          <p:cNvPr id="74" name="Shape 74"/>
          <p:cNvSpPr/>
          <p:nvPr/>
        </p:nvSpPr>
        <p:spPr>
          <a:xfrm>
            <a:off x="7620000" y="4333875"/>
            <a:ext cx="157163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75" name="Shape 75"/>
          <p:cNvSpPr/>
          <p:nvPr/>
        </p:nvSpPr>
        <p:spPr>
          <a:xfrm>
            <a:off x="571500" y="4505325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6" name="Shape 76"/>
          <p:cNvSpPr/>
          <p:nvPr/>
        </p:nvSpPr>
        <p:spPr>
          <a:xfrm>
            <a:off x="7620000" y="2314575"/>
            <a:ext cx="9525" cy="219075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7" name="TextBox 77"/>
          <p:cNvSpPr/>
          <p:nvPr/>
        </p:nvSpPr>
        <p:spPr>
          <a:xfrm>
            <a:off x="571500" y="4572000"/>
            <a:ext cx="762000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view: one text box per cell, subtotal rows bold with a 3 px rule, variance as a signed number and a bar. Green is good for the business, red is bad, so a cost going up is red.</a:t>
            </a:r>
            <a:endParaRPr lang="en-US" sz="750" dirty="0"/>
          </a:p>
        </p:txBody>
      </p:sp>
      <p:sp>
        <p:nvSpPr>
          <p:cNvPr id="78" name="TextBox 78"/>
          <p:cNvSpPr/>
          <p:nvPr/>
        </p:nvSpPr>
        <p:spPr>
          <a:xfrm>
            <a:off x="8096250" y="4572000"/>
            <a:ext cx="47625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TextBox 3"/>
          <p:cNvSpPr/>
          <p:nvPr/>
        </p:nvSpPr>
        <p:spPr>
          <a:xfrm>
            <a:off x="981075" y="40005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</a:t>
            </a:r>
            <a:endParaRPr lang="en-US" sz="1125" dirty="0"/>
          </a:p>
        </p:txBody>
      </p:sp>
      <p:sp>
        <p:nvSpPr>
          <p:cNvPr id="4" name="TextBox 4"/>
          <p:cNvSpPr/>
          <p:nvPr/>
        </p:nvSpPr>
        <p:spPr>
          <a:xfrm>
            <a:off x="571500" y="95250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BRIDGE · H1 TO H2 2026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1190625"/>
            <a:ext cx="762000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385"/>
              </a:lnSpc>
              <a:buNone/>
            </a:pPr>
            <a:r>
              <a:rPr lang="en-US" sz="22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did the work; delivery cost took a third of it back</a:t>
            </a:r>
            <a:endParaRPr lang="en-US" sz="2250" dirty="0"/>
          </a:p>
        </p:txBody>
      </p:sp>
      <p:sp>
        <p:nvSpPr>
          <p:cNvPr id="6" name="Shape 6"/>
          <p:cNvSpPr/>
          <p:nvPr/>
        </p:nvSpPr>
        <p:spPr>
          <a:xfrm>
            <a:off x="571500" y="4191000"/>
            <a:ext cx="8001000" cy="1428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Box 7"/>
          <p:cNvSpPr/>
          <p:nvPr/>
        </p:nvSpPr>
        <p:spPr>
          <a:xfrm>
            <a:off x="238125" y="4124325"/>
            <a:ext cx="285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75" dirty="0"/>
          </a:p>
        </p:txBody>
      </p:sp>
      <p:sp>
        <p:nvSpPr>
          <p:cNvPr id="8" name="Shape 8"/>
          <p:cNvSpPr/>
          <p:nvPr/>
        </p:nvSpPr>
        <p:spPr>
          <a:xfrm>
            <a:off x="571500" y="3667125"/>
            <a:ext cx="80010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Box 9"/>
          <p:cNvSpPr/>
          <p:nvPr/>
        </p:nvSpPr>
        <p:spPr>
          <a:xfrm>
            <a:off x="238125" y="3600450"/>
            <a:ext cx="285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675" dirty="0"/>
          </a:p>
        </p:txBody>
      </p:sp>
      <p:sp>
        <p:nvSpPr>
          <p:cNvPr id="10" name="Shape 10"/>
          <p:cNvSpPr/>
          <p:nvPr/>
        </p:nvSpPr>
        <p:spPr>
          <a:xfrm>
            <a:off x="571500" y="3143250"/>
            <a:ext cx="80010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Box 11"/>
          <p:cNvSpPr/>
          <p:nvPr/>
        </p:nvSpPr>
        <p:spPr>
          <a:xfrm>
            <a:off x="238125" y="3076575"/>
            <a:ext cx="285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675" dirty="0"/>
          </a:p>
        </p:txBody>
      </p:sp>
      <p:sp>
        <p:nvSpPr>
          <p:cNvPr id="12" name="Shape 12"/>
          <p:cNvSpPr/>
          <p:nvPr/>
        </p:nvSpPr>
        <p:spPr>
          <a:xfrm>
            <a:off x="571500" y="2619375"/>
            <a:ext cx="80010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Box 13"/>
          <p:cNvSpPr/>
          <p:nvPr/>
        </p:nvSpPr>
        <p:spPr>
          <a:xfrm>
            <a:off x="238125" y="2552700"/>
            <a:ext cx="285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675" dirty="0"/>
          </a:p>
        </p:txBody>
      </p:sp>
      <p:sp>
        <p:nvSpPr>
          <p:cNvPr id="14" name="Shape 14"/>
          <p:cNvSpPr/>
          <p:nvPr/>
        </p:nvSpPr>
        <p:spPr>
          <a:xfrm>
            <a:off x="571500" y="2095500"/>
            <a:ext cx="8001000" cy="95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Box 15"/>
          <p:cNvSpPr/>
          <p:nvPr/>
        </p:nvSpPr>
        <p:spPr>
          <a:xfrm>
            <a:off x="238125" y="2028825"/>
            <a:ext cx="285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675" dirty="0"/>
          </a:p>
        </p:txBody>
      </p:sp>
      <p:sp>
        <p:nvSpPr>
          <p:cNvPr id="16" name="Shape 16"/>
          <p:cNvSpPr/>
          <p:nvPr/>
        </p:nvSpPr>
        <p:spPr>
          <a:xfrm>
            <a:off x="666750" y="3476625"/>
            <a:ext cx="809625" cy="714375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7" name="TextBox 17"/>
          <p:cNvSpPr/>
          <p:nvPr/>
        </p:nvSpPr>
        <p:spPr>
          <a:xfrm>
            <a:off x="571500" y="3305175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750" dirty="0"/>
          </a:p>
        </p:txBody>
      </p:sp>
      <p:sp>
        <p:nvSpPr>
          <p:cNvPr id="18" name="TextBox 18"/>
          <p:cNvSpPr/>
          <p:nvPr/>
        </p:nvSpPr>
        <p:spPr>
          <a:xfrm>
            <a:off x="57150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EBITDA</a:t>
            </a:r>
            <a:endParaRPr lang="en-US" sz="750" dirty="0"/>
          </a:p>
        </p:txBody>
      </p:sp>
      <p:sp>
        <p:nvSpPr>
          <p:cNvPr id="19" name="Shape 19"/>
          <p:cNvSpPr/>
          <p:nvPr/>
        </p:nvSpPr>
        <p:spPr>
          <a:xfrm>
            <a:off x="1476375" y="3476625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20"/>
          <p:cNvSpPr/>
          <p:nvPr/>
        </p:nvSpPr>
        <p:spPr>
          <a:xfrm>
            <a:off x="1638300" y="2619375"/>
            <a:ext cx="809625" cy="85725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21" name="TextBox 21"/>
          <p:cNvSpPr/>
          <p:nvPr/>
        </p:nvSpPr>
        <p:spPr>
          <a:xfrm>
            <a:off x="1543050" y="2447925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</a:t>
            </a:r>
            <a:endParaRPr lang="en-US" sz="750" dirty="0"/>
          </a:p>
        </p:txBody>
      </p:sp>
      <p:sp>
        <p:nvSpPr>
          <p:cNvPr id="22" name="TextBox 22"/>
          <p:cNvSpPr/>
          <p:nvPr/>
        </p:nvSpPr>
        <p:spPr>
          <a:xfrm>
            <a:off x="154305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750" dirty="0"/>
          </a:p>
        </p:txBody>
      </p:sp>
      <p:sp>
        <p:nvSpPr>
          <p:cNvPr id="23" name="Shape 23"/>
          <p:cNvSpPr/>
          <p:nvPr/>
        </p:nvSpPr>
        <p:spPr>
          <a:xfrm>
            <a:off x="2447925" y="2619375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Shape 24"/>
          <p:cNvSpPr/>
          <p:nvPr/>
        </p:nvSpPr>
        <p:spPr>
          <a:xfrm>
            <a:off x="2609850" y="2243138"/>
            <a:ext cx="809625" cy="376238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25" name="TextBox 25"/>
          <p:cNvSpPr/>
          <p:nvPr/>
        </p:nvSpPr>
        <p:spPr>
          <a:xfrm>
            <a:off x="2514600" y="2071687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</a:t>
            </a:r>
            <a:endParaRPr lang="en-US" sz="750" dirty="0"/>
          </a:p>
        </p:txBody>
      </p:sp>
      <p:sp>
        <p:nvSpPr>
          <p:cNvPr id="26" name="TextBox 26"/>
          <p:cNvSpPr/>
          <p:nvPr/>
        </p:nvSpPr>
        <p:spPr>
          <a:xfrm>
            <a:off x="251460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750" dirty="0"/>
          </a:p>
        </p:txBody>
      </p:sp>
      <p:sp>
        <p:nvSpPr>
          <p:cNvPr id="27" name="Shape 27"/>
          <p:cNvSpPr/>
          <p:nvPr/>
        </p:nvSpPr>
        <p:spPr>
          <a:xfrm>
            <a:off x="3419475" y="2243137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8" name="Shape 28"/>
          <p:cNvSpPr/>
          <p:nvPr/>
        </p:nvSpPr>
        <p:spPr>
          <a:xfrm>
            <a:off x="3581400" y="2243138"/>
            <a:ext cx="809625" cy="64770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9" name="TextBox 29"/>
          <p:cNvSpPr/>
          <p:nvPr/>
        </p:nvSpPr>
        <p:spPr>
          <a:xfrm>
            <a:off x="3486150" y="2071687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</a:t>
            </a:r>
            <a:endParaRPr lang="en-US" sz="750" dirty="0"/>
          </a:p>
        </p:txBody>
      </p:sp>
      <p:sp>
        <p:nvSpPr>
          <p:cNvPr id="30" name="TextBox 30"/>
          <p:cNvSpPr/>
          <p:nvPr/>
        </p:nvSpPr>
        <p:spPr>
          <a:xfrm>
            <a:off x="348615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cost</a:t>
            </a:r>
            <a:endParaRPr lang="en-US" sz="750" dirty="0"/>
          </a:p>
        </p:txBody>
      </p:sp>
      <p:sp>
        <p:nvSpPr>
          <p:cNvPr id="31" name="Shape 31"/>
          <p:cNvSpPr/>
          <p:nvPr/>
        </p:nvSpPr>
        <p:spPr>
          <a:xfrm>
            <a:off x="4391025" y="2890837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Shape 32"/>
          <p:cNvSpPr/>
          <p:nvPr/>
        </p:nvSpPr>
        <p:spPr>
          <a:xfrm>
            <a:off x="4552950" y="2890837"/>
            <a:ext cx="809625" cy="271463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3" name="TextBox 33"/>
          <p:cNvSpPr/>
          <p:nvPr/>
        </p:nvSpPr>
        <p:spPr>
          <a:xfrm>
            <a:off x="4457700" y="2719387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</a:t>
            </a:r>
            <a:endParaRPr lang="en-US" sz="750" dirty="0"/>
          </a:p>
        </p:txBody>
      </p:sp>
      <p:sp>
        <p:nvSpPr>
          <p:cNvPr id="34" name="TextBox 34"/>
          <p:cNvSpPr/>
          <p:nvPr/>
        </p:nvSpPr>
        <p:spPr>
          <a:xfrm>
            <a:off x="445770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50" dirty="0"/>
          </a:p>
        </p:txBody>
      </p:sp>
      <p:sp>
        <p:nvSpPr>
          <p:cNvPr id="35" name="Shape 35"/>
          <p:cNvSpPr/>
          <p:nvPr/>
        </p:nvSpPr>
        <p:spPr>
          <a:xfrm>
            <a:off x="5362575" y="3162300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Shape 36"/>
          <p:cNvSpPr/>
          <p:nvPr/>
        </p:nvSpPr>
        <p:spPr>
          <a:xfrm>
            <a:off x="5524500" y="3162300"/>
            <a:ext cx="809625" cy="16668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7" name="TextBox 37"/>
          <p:cNvSpPr/>
          <p:nvPr/>
        </p:nvSpPr>
        <p:spPr>
          <a:xfrm>
            <a:off x="5429250" y="299085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</a:t>
            </a:r>
            <a:endParaRPr lang="en-US" sz="750" dirty="0"/>
          </a:p>
        </p:txBody>
      </p:sp>
      <p:sp>
        <p:nvSpPr>
          <p:cNvPr id="38" name="TextBox 38"/>
          <p:cNvSpPr/>
          <p:nvPr/>
        </p:nvSpPr>
        <p:spPr>
          <a:xfrm>
            <a:off x="542925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750" dirty="0"/>
          </a:p>
        </p:txBody>
      </p:sp>
      <p:sp>
        <p:nvSpPr>
          <p:cNvPr id="39" name="Shape 39"/>
          <p:cNvSpPr/>
          <p:nvPr/>
        </p:nvSpPr>
        <p:spPr>
          <a:xfrm>
            <a:off x="6334125" y="3333750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Shape 40"/>
          <p:cNvSpPr/>
          <p:nvPr/>
        </p:nvSpPr>
        <p:spPr>
          <a:xfrm>
            <a:off x="6496050" y="3205162"/>
            <a:ext cx="809625" cy="123825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41" name="TextBox 41"/>
          <p:cNvSpPr/>
          <p:nvPr/>
        </p:nvSpPr>
        <p:spPr>
          <a:xfrm>
            <a:off x="6400800" y="3033712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8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</a:t>
            </a:r>
            <a:endParaRPr lang="en-US" sz="750" dirty="0"/>
          </a:p>
        </p:txBody>
      </p:sp>
      <p:sp>
        <p:nvSpPr>
          <p:cNvPr id="42" name="TextBox 42"/>
          <p:cNvSpPr/>
          <p:nvPr/>
        </p:nvSpPr>
        <p:spPr>
          <a:xfrm>
            <a:off x="640080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50" dirty="0"/>
          </a:p>
        </p:txBody>
      </p:sp>
      <p:sp>
        <p:nvSpPr>
          <p:cNvPr id="43" name="Shape 43"/>
          <p:cNvSpPr/>
          <p:nvPr/>
        </p:nvSpPr>
        <p:spPr>
          <a:xfrm>
            <a:off x="7305675" y="3205162"/>
            <a:ext cx="161925" cy="9525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4" name="Shape 44"/>
          <p:cNvSpPr/>
          <p:nvPr/>
        </p:nvSpPr>
        <p:spPr>
          <a:xfrm>
            <a:off x="7467600" y="3205162"/>
            <a:ext cx="809625" cy="985838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5" name="TextBox 45"/>
          <p:cNvSpPr/>
          <p:nvPr/>
        </p:nvSpPr>
        <p:spPr>
          <a:xfrm>
            <a:off x="7372350" y="3033712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750" dirty="0"/>
          </a:p>
        </p:txBody>
      </p:sp>
      <p:sp>
        <p:nvSpPr>
          <p:cNvPr id="46" name="TextBox 46"/>
          <p:cNvSpPr/>
          <p:nvPr/>
        </p:nvSpPr>
        <p:spPr>
          <a:xfrm>
            <a:off x="7372350" y="4267200"/>
            <a:ext cx="1000125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EBITDA</a:t>
            </a:r>
            <a:endParaRPr lang="en-US" sz="750" dirty="0"/>
          </a:p>
        </p:txBody>
      </p:sp>
      <p:sp>
        <p:nvSpPr>
          <p:cNvPr id="47" name="TextBox 47"/>
          <p:cNvSpPr/>
          <p:nvPr/>
        </p:nvSpPr>
        <p:spPr>
          <a:xfrm>
            <a:off x="571500" y="4572000"/>
            <a:ext cx="7620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Bridge: totals in the brand colour, increases green, decreases red, grey connectors at the running level, every bar labelled with its sign. Keep it to 7 to 10 bars and group the rest as Other.</a:t>
            </a:r>
            <a:endParaRPr lang="en-US" sz="750" dirty="0"/>
          </a:p>
        </p:txBody>
      </p:sp>
      <p:sp>
        <p:nvSpPr>
          <p:cNvPr id="48" name="TextBox 48"/>
          <p:cNvSpPr/>
          <p:nvPr/>
        </p:nvSpPr>
        <p:spPr>
          <a:xfrm>
            <a:off x="8096250" y="4572000"/>
            <a:ext cx="47625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Box 3"/>
          <p:cNvSpPr/>
          <p:nvPr/>
        </p:nvSpPr>
        <p:spPr>
          <a:xfrm>
            <a:off x="981075" y="40005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</a:t>
            </a:r>
            <a:endParaRPr lang="en-US" sz="1125" dirty="0"/>
          </a:p>
        </p:txBody>
      </p:sp>
      <p:sp>
        <p:nvSpPr>
          <p:cNvPr id="4" name="TextBox 4"/>
          <p:cNvSpPr/>
          <p:nvPr/>
        </p:nvSpPr>
        <p:spPr>
          <a:xfrm>
            <a:off x="571500" y="95250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 AND MARIMEKKO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1190625"/>
            <a:ext cx="762000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385"/>
              </a:lnSpc>
              <a:buNone/>
            </a:pPr>
            <a:r>
              <a:rPr lang="en-US" sz="22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consulting staples from plain divs</a:t>
            </a:r>
            <a:endParaRPr lang="en-US" sz="2250" dirty="0"/>
          </a:p>
        </p:txBody>
      </p:sp>
      <p:sp>
        <p:nvSpPr>
          <p:cNvPr id="6" name="TextBox 6"/>
          <p:cNvSpPr/>
          <p:nvPr/>
        </p:nvSpPr>
        <p:spPr>
          <a:xfrm>
            <a:off x="571500" y="1952625"/>
            <a:ext cx="3810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GANTT: PROGRAMME TIMELINE</a:t>
            </a:r>
            <a:endParaRPr lang="en-US" sz="675" dirty="0"/>
          </a:p>
        </p:txBody>
      </p:sp>
      <p:sp>
        <p:nvSpPr>
          <p:cNvPr id="7" name="TextBox 7"/>
          <p:cNvSpPr/>
          <p:nvPr/>
        </p:nvSpPr>
        <p:spPr>
          <a:xfrm>
            <a:off x="1714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675" dirty="0"/>
          </a:p>
        </p:txBody>
      </p:sp>
      <p:sp>
        <p:nvSpPr>
          <p:cNvPr id="8" name="Shape 8"/>
          <p:cNvSpPr/>
          <p:nvPr/>
        </p:nvSpPr>
        <p:spPr>
          <a:xfrm>
            <a:off x="1714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Box 9"/>
          <p:cNvSpPr/>
          <p:nvPr/>
        </p:nvSpPr>
        <p:spPr>
          <a:xfrm>
            <a:off x="2286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675" dirty="0"/>
          </a:p>
        </p:txBody>
      </p:sp>
      <p:sp>
        <p:nvSpPr>
          <p:cNvPr id="10" name="Shape 10"/>
          <p:cNvSpPr/>
          <p:nvPr/>
        </p:nvSpPr>
        <p:spPr>
          <a:xfrm>
            <a:off x="2286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Box 11"/>
          <p:cNvSpPr/>
          <p:nvPr/>
        </p:nvSpPr>
        <p:spPr>
          <a:xfrm>
            <a:off x="2857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675" dirty="0"/>
          </a:p>
        </p:txBody>
      </p:sp>
      <p:sp>
        <p:nvSpPr>
          <p:cNvPr id="12" name="Shape 12"/>
          <p:cNvSpPr/>
          <p:nvPr/>
        </p:nvSpPr>
        <p:spPr>
          <a:xfrm>
            <a:off x="2857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Box 13"/>
          <p:cNvSpPr/>
          <p:nvPr/>
        </p:nvSpPr>
        <p:spPr>
          <a:xfrm>
            <a:off x="3429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675" dirty="0"/>
          </a:p>
        </p:txBody>
      </p:sp>
      <p:sp>
        <p:nvSpPr>
          <p:cNvPr id="14" name="Shape 14"/>
          <p:cNvSpPr/>
          <p:nvPr/>
        </p:nvSpPr>
        <p:spPr>
          <a:xfrm>
            <a:off x="3429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Box 15"/>
          <p:cNvSpPr/>
          <p:nvPr/>
        </p:nvSpPr>
        <p:spPr>
          <a:xfrm>
            <a:off x="4000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675" dirty="0"/>
          </a:p>
        </p:txBody>
      </p:sp>
      <p:sp>
        <p:nvSpPr>
          <p:cNvPr id="16" name="Shape 16"/>
          <p:cNvSpPr/>
          <p:nvPr/>
        </p:nvSpPr>
        <p:spPr>
          <a:xfrm>
            <a:off x="4000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Box 17"/>
          <p:cNvSpPr/>
          <p:nvPr/>
        </p:nvSpPr>
        <p:spPr>
          <a:xfrm>
            <a:off x="4572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675" dirty="0"/>
          </a:p>
        </p:txBody>
      </p:sp>
      <p:sp>
        <p:nvSpPr>
          <p:cNvPr id="18" name="Shape 18"/>
          <p:cNvSpPr/>
          <p:nvPr/>
        </p:nvSpPr>
        <p:spPr>
          <a:xfrm>
            <a:off x="4572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TextBox 19"/>
          <p:cNvSpPr/>
          <p:nvPr/>
        </p:nvSpPr>
        <p:spPr>
          <a:xfrm>
            <a:off x="5143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675" dirty="0"/>
          </a:p>
        </p:txBody>
      </p:sp>
      <p:sp>
        <p:nvSpPr>
          <p:cNvPr id="20" name="Shape 20"/>
          <p:cNvSpPr/>
          <p:nvPr/>
        </p:nvSpPr>
        <p:spPr>
          <a:xfrm>
            <a:off x="5143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1" name="TextBox 21"/>
          <p:cNvSpPr/>
          <p:nvPr/>
        </p:nvSpPr>
        <p:spPr>
          <a:xfrm>
            <a:off x="5715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675" dirty="0"/>
          </a:p>
        </p:txBody>
      </p:sp>
      <p:sp>
        <p:nvSpPr>
          <p:cNvPr id="22" name="Shape 22"/>
          <p:cNvSpPr/>
          <p:nvPr/>
        </p:nvSpPr>
        <p:spPr>
          <a:xfrm>
            <a:off x="5715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Box 23"/>
          <p:cNvSpPr/>
          <p:nvPr/>
        </p:nvSpPr>
        <p:spPr>
          <a:xfrm>
            <a:off x="6286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675" dirty="0"/>
          </a:p>
        </p:txBody>
      </p:sp>
      <p:sp>
        <p:nvSpPr>
          <p:cNvPr id="24" name="Shape 24"/>
          <p:cNvSpPr/>
          <p:nvPr/>
        </p:nvSpPr>
        <p:spPr>
          <a:xfrm>
            <a:off x="6286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5" name="TextBox 25"/>
          <p:cNvSpPr/>
          <p:nvPr/>
        </p:nvSpPr>
        <p:spPr>
          <a:xfrm>
            <a:off x="6858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675" dirty="0"/>
          </a:p>
        </p:txBody>
      </p:sp>
      <p:sp>
        <p:nvSpPr>
          <p:cNvPr id="26" name="Shape 26"/>
          <p:cNvSpPr/>
          <p:nvPr/>
        </p:nvSpPr>
        <p:spPr>
          <a:xfrm>
            <a:off x="6858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TextBox 27"/>
          <p:cNvSpPr/>
          <p:nvPr/>
        </p:nvSpPr>
        <p:spPr>
          <a:xfrm>
            <a:off x="74295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675" dirty="0"/>
          </a:p>
        </p:txBody>
      </p:sp>
      <p:sp>
        <p:nvSpPr>
          <p:cNvPr id="28" name="Shape 28"/>
          <p:cNvSpPr/>
          <p:nvPr/>
        </p:nvSpPr>
        <p:spPr>
          <a:xfrm>
            <a:off x="74295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TextBox 29"/>
          <p:cNvSpPr/>
          <p:nvPr/>
        </p:nvSpPr>
        <p:spPr>
          <a:xfrm>
            <a:off x="8001000" y="2095500"/>
            <a:ext cx="571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675" dirty="0"/>
          </a:p>
        </p:txBody>
      </p:sp>
      <p:sp>
        <p:nvSpPr>
          <p:cNvPr id="30" name="Shape 30"/>
          <p:cNvSpPr/>
          <p:nvPr/>
        </p:nvSpPr>
        <p:spPr>
          <a:xfrm>
            <a:off x="8001000" y="2238375"/>
            <a:ext cx="4763" cy="119062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1" name="Shape 31"/>
          <p:cNvSpPr/>
          <p:nvPr/>
        </p:nvSpPr>
        <p:spPr>
          <a:xfrm>
            <a:off x="5143500" y="2238375"/>
            <a:ext cx="14288" cy="1190625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2" name="TextBox 32"/>
          <p:cNvSpPr/>
          <p:nvPr/>
        </p:nvSpPr>
        <p:spPr>
          <a:xfrm>
            <a:off x="4667250" y="3448050"/>
            <a:ext cx="95250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750" dirty="0"/>
          </a:p>
        </p:txBody>
      </p:sp>
      <p:sp>
        <p:nvSpPr>
          <p:cNvPr id="33" name="TextBox 33"/>
          <p:cNvSpPr/>
          <p:nvPr/>
        </p:nvSpPr>
        <p:spPr>
          <a:xfrm>
            <a:off x="571500" y="232410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825" dirty="0"/>
          </a:p>
        </p:txBody>
      </p:sp>
      <p:sp>
        <p:nvSpPr>
          <p:cNvPr id="34" name="Shape 34"/>
          <p:cNvSpPr/>
          <p:nvPr/>
        </p:nvSpPr>
        <p:spPr>
          <a:xfrm>
            <a:off x="1728788" y="2286000"/>
            <a:ext cx="1114425" cy="161925"/>
          </a:xfrm>
          <a:prstGeom prst="roundRect">
            <a:avLst>
              <a:gd name="adj" fmla="val 11765"/>
            </a:avLst>
          </a:prstGeom>
          <a:solidFill>
            <a:srgbClr val="8593B3"/>
          </a:solidFill>
          <a:ln/>
        </p:spPr>
      </p:sp>
      <p:sp>
        <p:nvSpPr>
          <p:cNvPr id="35" name="TextBox 35"/>
          <p:cNvSpPr/>
          <p:nvPr/>
        </p:nvSpPr>
        <p:spPr>
          <a:xfrm>
            <a:off x="571500" y="2543175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25" dirty="0"/>
          </a:p>
        </p:txBody>
      </p:sp>
      <p:sp>
        <p:nvSpPr>
          <p:cNvPr id="36" name="Shape 36"/>
          <p:cNvSpPr/>
          <p:nvPr/>
        </p:nvSpPr>
        <p:spPr>
          <a:xfrm>
            <a:off x="2871788" y="2505075"/>
            <a:ext cx="2257425" cy="161925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/>
        </p:spPr>
      </p:sp>
      <p:sp>
        <p:nvSpPr>
          <p:cNvPr id="37" name="TextBox 37"/>
          <p:cNvSpPr/>
          <p:nvPr/>
        </p:nvSpPr>
        <p:spPr>
          <a:xfrm>
            <a:off x="571500" y="276225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825" dirty="0"/>
          </a:p>
        </p:txBody>
      </p:sp>
      <p:sp>
        <p:nvSpPr>
          <p:cNvPr id="38" name="Shape 38"/>
          <p:cNvSpPr/>
          <p:nvPr/>
        </p:nvSpPr>
        <p:spPr>
          <a:xfrm>
            <a:off x="4586288" y="2724150"/>
            <a:ext cx="1685925" cy="161925"/>
          </a:xfrm>
          <a:prstGeom prst="roundRect">
            <a:avLst>
              <a:gd name="adj" fmla="val 11765"/>
            </a:avLst>
          </a:prstGeom>
          <a:solidFill>
            <a:srgbClr val="2E3D5F"/>
          </a:solidFill>
          <a:ln/>
        </p:spPr>
      </p:sp>
      <p:sp>
        <p:nvSpPr>
          <p:cNvPr id="39" name="TextBox 39"/>
          <p:cNvSpPr/>
          <p:nvPr/>
        </p:nvSpPr>
        <p:spPr>
          <a:xfrm>
            <a:off x="571500" y="2981325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825" dirty="0"/>
          </a:p>
        </p:txBody>
      </p:sp>
      <p:sp>
        <p:nvSpPr>
          <p:cNvPr id="40" name="Shape 40"/>
          <p:cNvSpPr/>
          <p:nvPr/>
        </p:nvSpPr>
        <p:spPr>
          <a:xfrm>
            <a:off x="5729288" y="2943225"/>
            <a:ext cx="2257425" cy="161925"/>
          </a:xfrm>
          <a:prstGeom prst="roundRect">
            <a:avLst>
              <a:gd name="adj" fmla="val 11765"/>
            </a:avLst>
          </a:prstGeom>
          <a:solidFill>
            <a:srgbClr val="2E3D5F"/>
          </a:solidFill>
          <a:ln/>
        </p:spPr>
      </p:sp>
      <p:sp>
        <p:nvSpPr>
          <p:cNvPr id="41" name="TextBox 41"/>
          <p:cNvSpPr/>
          <p:nvPr/>
        </p:nvSpPr>
        <p:spPr>
          <a:xfrm>
            <a:off x="571500" y="3200400"/>
            <a:ext cx="10953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825" dirty="0"/>
          </a:p>
        </p:txBody>
      </p:sp>
      <p:sp>
        <p:nvSpPr>
          <p:cNvPr id="42" name="Shape 42"/>
          <p:cNvSpPr/>
          <p:nvPr/>
        </p:nvSpPr>
        <p:spPr>
          <a:xfrm>
            <a:off x="6300788" y="3162300"/>
            <a:ext cx="2257425" cy="161925"/>
          </a:xfrm>
          <a:prstGeom prst="roundRect">
            <a:avLst>
              <a:gd name="adj" fmla="val 11765"/>
            </a:avLst>
          </a:prstGeom>
          <a:solidFill>
            <a:srgbClr val="E8590C"/>
          </a:solidFill>
          <a:ln/>
        </p:spPr>
      </p:sp>
      <p:sp>
        <p:nvSpPr>
          <p:cNvPr id="43" name="TextBox 43"/>
          <p:cNvSpPr/>
          <p:nvPr/>
        </p:nvSpPr>
        <p:spPr>
          <a:xfrm>
            <a:off x="571500" y="3619500"/>
            <a:ext cx="3810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MARIMEKKO: REVENUE BY SEGMENT AND REGION</a:t>
            </a:r>
            <a:endParaRPr lang="en-US" sz="675" dirty="0"/>
          </a:p>
        </p:txBody>
      </p:sp>
      <p:sp>
        <p:nvSpPr>
          <p:cNvPr id="44" name="Shape 44"/>
          <p:cNvSpPr/>
          <p:nvPr/>
        </p:nvSpPr>
        <p:spPr>
          <a:xfrm>
            <a:off x="571500" y="3810000"/>
            <a:ext cx="4105275" cy="333375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5" name="TextBox 45"/>
          <p:cNvSpPr/>
          <p:nvPr/>
        </p:nvSpPr>
        <p:spPr>
          <a:xfrm>
            <a:off x="571500" y="3919537"/>
            <a:ext cx="4105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 50%</a:t>
            </a:r>
            <a:endParaRPr lang="en-US" sz="675" dirty="0"/>
          </a:p>
        </p:txBody>
      </p:sp>
      <p:sp>
        <p:nvSpPr>
          <p:cNvPr id="46" name="Shape 46"/>
          <p:cNvSpPr/>
          <p:nvPr/>
        </p:nvSpPr>
        <p:spPr>
          <a:xfrm>
            <a:off x="571500" y="4143375"/>
            <a:ext cx="4105275" cy="233362"/>
          </a:xfrm>
          <a:prstGeom prst="rect">
            <a:avLst/>
          </a:prstGeom>
          <a:solidFill>
            <a:srgbClr val="8593B3"/>
          </a:solidFill>
          <a:ln/>
        </p:spPr>
      </p:sp>
      <p:sp>
        <p:nvSpPr>
          <p:cNvPr id="47" name="TextBox 47"/>
          <p:cNvSpPr/>
          <p:nvPr/>
        </p:nvSpPr>
        <p:spPr>
          <a:xfrm>
            <a:off x="571500" y="4200525"/>
            <a:ext cx="4105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 35%</a:t>
            </a:r>
            <a:endParaRPr lang="en-US" sz="675" dirty="0"/>
          </a:p>
        </p:txBody>
      </p:sp>
      <p:sp>
        <p:nvSpPr>
          <p:cNvPr id="48" name="Shape 48"/>
          <p:cNvSpPr/>
          <p:nvPr/>
        </p:nvSpPr>
        <p:spPr>
          <a:xfrm>
            <a:off x="571500" y="4376738"/>
            <a:ext cx="4105275" cy="100013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9" name="TextBox 49"/>
          <p:cNvSpPr/>
          <p:nvPr/>
        </p:nvSpPr>
        <p:spPr>
          <a:xfrm>
            <a:off x="571500" y="4367212"/>
            <a:ext cx="4105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15%</a:t>
            </a:r>
            <a:endParaRPr lang="en-US" sz="675" dirty="0"/>
          </a:p>
        </p:txBody>
      </p:sp>
      <p:sp>
        <p:nvSpPr>
          <p:cNvPr id="50" name="TextBox 50"/>
          <p:cNvSpPr/>
          <p:nvPr/>
        </p:nvSpPr>
        <p:spPr>
          <a:xfrm>
            <a:off x="571500" y="4495800"/>
            <a:ext cx="4105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· 52%</a:t>
            </a:r>
            <a:endParaRPr lang="en-US" sz="675" dirty="0"/>
          </a:p>
        </p:txBody>
      </p:sp>
      <p:sp>
        <p:nvSpPr>
          <p:cNvPr id="51" name="Shape 51"/>
          <p:cNvSpPr/>
          <p:nvPr/>
        </p:nvSpPr>
        <p:spPr>
          <a:xfrm>
            <a:off x="4733925" y="3810000"/>
            <a:ext cx="2581275" cy="40005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2" name="TextBox 52"/>
          <p:cNvSpPr/>
          <p:nvPr/>
        </p:nvSpPr>
        <p:spPr>
          <a:xfrm>
            <a:off x="4733925" y="3952875"/>
            <a:ext cx="2581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 60%</a:t>
            </a:r>
            <a:endParaRPr lang="en-US" sz="675" dirty="0"/>
          </a:p>
        </p:txBody>
      </p:sp>
      <p:sp>
        <p:nvSpPr>
          <p:cNvPr id="53" name="Shape 53"/>
          <p:cNvSpPr/>
          <p:nvPr/>
        </p:nvSpPr>
        <p:spPr>
          <a:xfrm>
            <a:off x="4733925" y="4210050"/>
            <a:ext cx="2581275" cy="200025"/>
          </a:xfrm>
          <a:prstGeom prst="rect">
            <a:avLst/>
          </a:prstGeom>
          <a:solidFill>
            <a:srgbClr val="8593B3"/>
          </a:solidFill>
          <a:ln/>
        </p:spPr>
      </p:sp>
      <p:sp>
        <p:nvSpPr>
          <p:cNvPr id="54" name="TextBox 54"/>
          <p:cNvSpPr/>
          <p:nvPr/>
        </p:nvSpPr>
        <p:spPr>
          <a:xfrm>
            <a:off x="4733925" y="4252912"/>
            <a:ext cx="2581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 30%</a:t>
            </a:r>
            <a:endParaRPr lang="en-US" sz="675" dirty="0"/>
          </a:p>
        </p:txBody>
      </p:sp>
      <p:sp>
        <p:nvSpPr>
          <p:cNvPr id="55" name="Shape 55"/>
          <p:cNvSpPr/>
          <p:nvPr/>
        </p:nvSpPr>
        <p:spPr>
          <a:xfrm>
            <a:off x="4733925" y="4410075"/>
            <a:ext cx="2581275" cy="6667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6" name="TextBox 56"/>
          <p:cNvSpPr/>
          <p:nvPr/>
        </p:nvSpPr>
        <p:spPr>
          <a:xfrm>
            <a:off x="4733925" y="4386263"/>
            <a:ext cx="2581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10%</a:t>
            </a:r>
            <a:endParaRPr lang="en-US" sz="675" dirty="0"/>
          </a:p>
        </p:txBody>
      </p:sp>
      <p:sp>
        <p:nvSpPr>
          <p:cNvPr id="57" name="TextBox 57"/>
          <p:cNvSpPr/>
          <p:nvPr/>
        </p:nvSpPr>
        <p:spPr>
          <a:xfrm>
            <a:off x="4733925" y="4495800"/>
            <a:ext cx="25812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· 33%</a:t>
            </a:r>
            <a:endParaRPr lang="en-US" sz="675" dirty="0"/>
          </a:p>
        </p:txBody>
      </p:sp>
      <p:sp>
        <p:nvSpPr>
          <p:cNvPr id="58" name="Shape 58"/>
          <p:cNvSpPr/>
          <p:nvPr/>
        </p:nvSpPr>
        <p:spPr>
          <a:xfrm>
            <a:off x="7372350" y="3810000"/>
            <a:ext cx="1143000" cy="200025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9" name="TextBox 59"/>
          <p:cNvSpPr/>
          <p:nvPr/>
        </p:nvSpPr>
        <p:spPr>
          <a:xfrm>
            <a:off x="7372350" y="3852862"/>
            <a:ext cx="1143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 30%</a:t>
            </a:r>
            <a:endParaRPr lang="en-US" sz="675" dirty="0"/>
          </a:p>
        </p:txBody>
      </p:sp>
      <p:sp>
        <p:nvSpPr>
          <p:cNvPr id="60" name="Shape 60"/>
          <p:cNvSpPr/>
          <p:nvPr/>
        </p:nvSpPr>
        <p:spPr>
          <a:xfrm>
            <a:off x="7372350" y="4010025"/>
            <a:ext cx="1143000" cy="200025"/>
          </a:xfrm>
          <a:prstGeom prst="rect">
            <a:avLst/>
          </a:prstGeom>
          <a:solidFill>
            <a:srgbClr val="8593B3"/>
          </a:solidFill>
          <a:ln/>
        </p:spPr>
      </p:sp>
      <p:sp>
        <p:nvSpPr>
          <p:cNvPr id="61" name="TextBox 61"/>
          <p:cNvSpPr/>
          <p:nvPr/>
        </p:nvSpPr>
        <p:spPr>
          <a:xfrm>
            <a:off x="7372350" y="4052887"/>
            <a:ext cx="1143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 30%</a:t>
            </a:r>
            <a:endParaRPr lang="en-US" sz="675" dirty="0"/>
          </a:p>
        </p:txBody>
      </p:sp>
      <p:sp>
        <p:nvSpPr>
          <p:cNvPr id="62" name="Shape 62"/>
          <p:cNvSpPr/>
          <p:nvPr/>
        </p:nvSpPr>
        <p:spPr>
          <a:xfrm>
            <a:off x="7372350" y="4210050"/>
            <a:ext cx="1143000" cy="26670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3" name="TextBox 63"/>
          <p:cNvSpPr/>
          <p:nvPr/>
        </p:nvSpPr>
        <p:spPr>
          <a:xfrm>
            <a:off x="7372350" y="4286250"/>
            <a:ext cx="1143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40%</a:t>
            </a:r>
            <a:endParaRPr lang="en-US" sz="675" dirty="0"/>
          </a:p>
        </p:txBody>
      </p:sp>
      <p:sp>
        <p:nvSpPr>
          <p:cNvPr id="64" name="TextBox 64"/>
          <p:cNvSpPr/>
          <p:nvPr/>
        </p:nvSpPr>
        <p:spPr>
          <a:xfrm>
            <a:off x="7372350" y="4495800"/>
            <a:ext cx="1143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· 15%</a:t>
            </a:r>
            <a:endParaRPr lang="en-US" sz="675" dirty="0"/>
          </a:p>
        </p:txBody>
      </p:sp>
      <p:sp>
        <p:nvSpPr>
          <p:cNvPr id="65" name="TextBox 65"/>
          <p:cNvSpPr/>
          <p:nvPr/>
        </p:nvSpPr>
        <p:spPr>
          <a:xfrm>
            <a:off x="8096250" y="4572000"/>
            <a:ext cx="47625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TextBox 3"/>
          <p:cNvSpPr/>
          <p:nvPr/>
        </p:nvSpPr>
        <p:spPr>
          <a:xfrm>
            <a:off x="981075" y="400050"/>
            <a:ext cx="1428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</a:t>
            </a:r>
            <a:endParaRPr lang="en-US" sz="1125" dirty="0"/>
          </a:p>
        </p:txBody>
      </p:sp>
      <p:sp>
        <p:nvSpPr>
          <p:cNvPr id="4" name="TextBox 4"/>
          <p:cNvSpPr/>
          <p:nvPr/>
        </p:nvSpPr>
        <p:spPr>
          <a:xfrm>
            <a:off x="571500" y="95250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SMALL CHART TYPES</a:t>
            </a:r>
            <a:endParaRPr lang="en-US" sz="825" dirty="0"/>
          </a:p>
        </p:txBody>
      </p:sp>
      <p:sp>
        <p:nvSpPr>
          <p:cNvPr id="5" name="TextBox 5"/>
          <p:cNvSpPr/>
          <p:nvPr/>
        </p:nvSpPr>
        <p:spPr>
          <a:xfrm>
            <a:off x="571500" y="1190625"/>
            <a:ext cx="7620000" cy="302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385"/>
              </a:lnSpc>
              <a:buNone/>
            </a:pPr>
            <a:r>
              <a:rPr lang="en-US" sz="2250" b="1" spc="-75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Sensitivity, targets, scoring and progress</a:t>
            </a:r>
            <a:endParaRPr lang="en-US" sz="2250" dirty="0"/>
          </a:p>
        </p:txBody>
      </p:sp>
      <p:sp>
        <p:nvSpPr>
          <p:cNvPr id="6" name="TextBox 6"/>
          <p:cNvSpPr/>
          <p:nvPr/>
        </p:nvSpPr>
        <p:spPr>
          <a:xfrm>
            <a:off x="571500" y="1952625"/>
            <a:ext cx="3333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TORNADO: SENSITIVITY OF OPERATING PROFIT</a:t>
            </a:r>
            <a:endParaRPr lang="en-US" sz="675" dirty="0"/>
          </a:p>
        </p:txBody>
      </p:sp>
      <p:sp>
        <p:nvSpPr>
          <p:cNvPr id="7" name="Shape 7"/>
          <p:cNvSpPr/>
          <p:nvPr/>
        </p:nvSpPr>
        <p:spPr>
          <a:xfrm>
            <a:off x="1238250" y="2143125"/>
            <a:ext cx="1428750" cy="17145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8" name="Shape 8"/>
          <p:cNvSpPr/>
          <p:nvPr/>
        </p:nvSpPr>
        <p:spPr>
          <a:xfrm>
            <a:off x="2667000" y="2143125"/>
            <a:ext cx="1428750" cy="17145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9" name="TextBox 9"/>
          <p:cNvSpPr/>
          <p:nvPr/>
        </p:nvSpPr>
        <p:spPr>
          <a:xfrm>
            <a:off x="571500" y="21717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+/-5%</a:t>
            </a:r>
            <a:endParaRPr lang="en-US" sz="675" dirty="0"/>
          </a:p>
        </p:txBody>
      </p:sp>
      <p:sp>
        <p:nvSpPr>
          <p:cNvPr id="10" name="Shape 10"/>
          <p:cNvSpPr/>
          <p:nvPr/>
        </p:nvSpPr>
        <p:spPr>
          <a:xfrm>
            <a:off x="1666875" y="2428875"/>
            <a:ext cx="1000125" cy="17145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1" name="Shape 11"/>
          <p:cNvSpPr/>
          <p:nvPr/>
        </p:nvSpPr>
        <p:spPr>
          <a:xfrm>
            <a:off x="2667000" y="2428875"/>
            <a:ext cx="1000125" cy="17145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2" name="TextBox 12"/>
          <p:cNvSpPr/>
          <p:nvPr/>
        </p:nvSpPr>
        <p:spPr>
          <a:xfrm>
            <a:off x="571500" y="245745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+/-5%</a:t>
            </a:r>
            <a:endParaRPr lang="en-US" sz="675" dirty="0"/>
          </a:p>
        </p:txBody>
      </p:sp>
      <p:sp>
        <p:nvSpPr>
          <p:cNvPr id="13" name="Shape 13"/>
          <p:cNvSpPr/>
          <p:nvPr/>
        </p:nvSpPr>
        <p:spPr>
          <a:xfrm>
            <a:off x="1881187" y="2714625"/>
            <a:ext cx="785813" cy="17145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4" name="Shape 14"/>
          <p:cNvSpPr/>
          <p:nvPr/>
        </p:nvSpPr>
        <p:spPr>
          <a:xfrm>
            <a:off x="2667000" y="2714625"/>
            <a:ext cx="785813" cy="17145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5" name="TextBox 15"/>
          <p:cNvSpPr/>
          <p:nvPr/>
        </p:nvSpPr>
        <p:spPr>
          <a:xfrm>
            <a:off x="571500" y="27432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cost +/-5%</a:t>
            </a:r>
            <a:endParaRPr lang="en-US" sz="675" dirty="0"/>
          </a:p>
        </p:txBody>
      </p:sp>
      <p:sp>
        <p:nvSpPr>
          <p:cNvPr id="16" name="Shape 16"/>
          <p:cNvSpPr/>
          <p:nvPr/>
        </p:nvSpPr>
        <p:spPr>
          <a:xfrm>
            <a:off x="2238375" y="3000375"/>
            <a:ext cx="428625" cy="17145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7" name="Shape 17"/>
          <p:cNvSpPr/>
          <p:nvPr/>
        </p:nvSpPr>
        <p:spPr>
          <a:xfrm>
            <a:off x="2667000" y="3000375"/>
            <a:ext cx="428625" cy="171450"/>
          </a:xfrm>
          <a:prstGeom prst="rect">
            <a:avLst/>
          </a:prstGeom>
          <a:solidFill>
            <a:srgbClr val="1B8A5A"/>
          </a:solidFill>
          <a:ln/>
        </p:spPr>
      </p:sp>
      <p:sp>
        <p:nvSpPr>
          <p:cNvPr id="18" name="TextBox 18"/>
          <p:cNvSpPr/>
          <p:nvPr/>
        </p:nvSpPr>
        <p:spPr>
          <a:xfrm>
            <a:off x="571500" y="302895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+/-5%</a:t>
            </a:r>
            <a:endParaRPr lang="en-US" sz="675" dirty="0"/>
          </a:p>
        </p:txBody>
      </p:sp>
      <p:sp>
        <p:nvSpPr>
          <p:cNvPr id="19" name="Shape 19"/>
          <p:cNvSpPr/>
          <p:nvPr/>
        </p:nvSpPr>
        <p:spPr>
          <a:xfrm>
            <a:off x="2667000" y="2095500"/>
            <a:ext cx="9525" cy="1143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Box 20"/>
          <p:cNvSpPr/>
          <p:nvPr/>
        </p:nvSpPr>
        <p:spPr>
          <a:xfrm>
            <a:off x="4762500" y="1952625"/>
            <a:ext cx="3810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BULLETS: KPI AGAINST TARGET</a:t>
            </a:r>
            <a:endParaRPr lang="en-US" sz="675" dirty="0"/>
          </a:p>
        </p:txBody>
      </p:sp>
      <p:sp>
        <p:nvSpPr>
          <p:cNvPr id="21" name="TextBox 21"/>
          <p:cNvSpPr/>
          <p:nvPr/>
        </p:nvSpPr>
        <p:spPr>
          <a:xfrm>
            <a:off x="4762500" y="2124075"/>
            <a:ext cx="1905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675" dirty="0"/>
          </a:p>
        </p:txBody>
      </p:sp>
      <p:sp>
        <p:nvSpPr>
          <p:cNvPr id="22" name="Shape 22"/>
          <p:cNvSpPr/>
          <p:nvPr/>
        </p:nvSpPr>
        <p:spPr>
          <a:xfrm>
            <a:off x="4762500" y="2247900"/>
            <a:ext cx="2667000" cy="1428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Shape 23"/>
          <p:cNvSpPr/>
          <p:nvPr/>
        </p:nvSpPr>
        <p:spPr>
          <a:xfrm>
            <a:off x="4762500" y="2247900"/>
            <a:ext cx="2224088" cy="142875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24" name="Shape 24"/>
          <p:cNvSpPr/>
          <p:nvPr/>
        </p:nvSpPr>
        <p:spPr>
          <a:xfrm>
            <a:off x="4762500" y="2286000"/>
            <a:ext cx="2162175" cy="66675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5" name="Shape 25"/>
          <p:cNvSpPr/>
          <p:nvPr/>
        </p:nvSpPr>
        <p:spPr>
          <a:xfrm>
            <a:off x="6977063" y="2219325"/>
            <a:ext cx="19050" cy="200025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6" name="TextBox 26"/>
          <p:cNvSpPr/>
          <p:nvPr/>
        </p:nvSpPr>
        <p:spPr>
          <a:xfrm>
            <a:off x="7505700" y="2257425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of 500</a:t>
            </a:r>
            <a:endParaRPr lang="en-US" sz="675" dirty="0"/>
          </a:p>
        </p:txBody>
      </p:sp>
      <p:sp>
        <p:nvSpPr>
          <p:cNvPr id="27" name="TextBox 27"/>
          <p:cNvSpPr/>
          <p:nvPr/>
        </p:nvSpPr>
        <p:spPr>
          <a:xfrm>
            <a:off x="4762500" y="2457450"/>
            <a:ext cx="1905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%</a:t>
            </a:r>
            <a:endParaRPr lang="en-US" sz="675" dirty="0"/>
          </a:p>
        </p:txBody>
      </p:sp>
      <p:sp>
        <p:nvSpPr>
          <p:cNvPr id="28" name="Shape 28"/>
          <p:cNvSpPr/>
          <p:nvPr/>
        </p:nvSpPr>
        <p:spPr>
          <a:xfrm>
            <a:off x="4762500" y="2581275"/>
            <a:ext cx="2667000" cy="1428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9" name="Shape 29"/>
          <p:cNvSpPr/>
          <p:nvPr/>
        </p:nvSpPr>
        <p:spPr>
          <a:xfrm>
            <a:off x="4762500" y="2581275"/>
            <a:ext cx="2000250" cy="142875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30" name="Shape 30"/>
          <p:cNvSpPr/>
          <p:nvPr/>
        </p:nvSpPr>
        <p:spPr>
          <a:xfrm>
            <a:off x="4762500" y="2619375"/>
            <a:ext cx="2043113" cy="66675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Shape 31"/>
          <p:cNvSpPr/>
          <p:nvPr/>
        </p:nvSpPr>
        <p:spPr>
          <a:xfrm>
            <a:off x="6753225" y="2552700"/>
            <a:ext cx="19050" cy="200025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2" name="TextBox 32"/>
          <p:cNvSpPr/>
          <p:nvPr/>
        </p:nvSpPr>
        <p:spPr>
          <a:xfrm>
            <a:off x="7505700" y="25908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of 45%</a:t>
            </a:r>
            <a:endParaRPr lang="en-US" sz="675" dirty="0"/>
          </a:p>
        </p:txBody>
      </p:sp>
      <p:sp>
        <p:nvSpPr>
          <p:cNvPr id="33" name="TextBox 33"/>
          <p:cNvSpPr/>
          <p:nvPr/>
        </p:nvSpPr>
        <p:spPr>
          <a:xfrm>
            <a:off x="4762500" y="2790825"/>
            <a:ext cx="1905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675" dirty="0"/>
          </a:p>
        </p:txBody>
      </p:sp>
      <p:sp>
        <p:nvSpPr>
          <p:cNvPr id="34" name="Shape 34"/>
          <p:cNvSpPr/>
          <p:nvPr/>
        </p:nvSpPr>
        <p:spPr>
          <a:xfrm>
            <a:off x="4762500" y="2914650"/>
            <a:ext cx="2667000" cy="142875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5" name="Shape 35"/>
          <p:cNvSpPr/>
          <p:nvPr/>
        </p:nvSpPr>
        <p:spPr>
          <a:xfrm>
            <a:off x="4762500" y="2914650"/>
            <a:ext cx="1333500" cy="142875"/>
          </a:xfrm>
          <a:prstGeom prst="rect">
            <a:avLst/>
          </a:prstGeom>
          <a:solidFill>
            <a:srgbClr val="EEF1F7"/>
          </a:solidFill>
          <a:ln/>
        </p:spPr>
      </p:sp>
      <p:sp>
        <p:nvSpPr>
          <p:cNvPr id="36" name="Shape 36"/>
          <p:cNvSpPr/>
          <p:nvPr/>
        </p:nvSpPr>
        <p:spPr>
          <a:xfrm>
            <a:off x="4762500" y="2952750"/>
            <a:ext cx="1014413" cy="66675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7" name="Shape 37"/>
          <p:cNvSpPr/>
          <p:nvPr/>
        </p:nvSpPr>
        <p:spPr>
          <a:xfrm>
            <a:off x="6086475" y="2886075"/>
            <a:ext cx="19050" cy="200025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38" name="TextBox 38"/>
          <p:cNvSpPr/>
          <p:nvPr/>
        </p:nvSpPr>
        <p:spPr>
          <a:xfrm>
            <a:off x="7505700" y="2924175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of 50</a:t>
            </a:r>
            <a:endParaRPr lang="en-US" sz="675" dirty="0"/>
          </a:p>
        </p:txBody>
      </p:sp>
      <p:sp>
        <p:nvSpPr>
          <p:cNvPr id="39" name="TextBox 39"/>
          <p:cNvSpPr/>
          <p:nvPr/>
        </p:nvSpPr>
        <p:spPr>
          <a:xfrm>
            <a:off x="571500" y="3429000"/>
            <a:ext cx="33337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BALLS: OPTION SCORING</a:t>
            </a:r>
            <a:endParaRPr lang="en-US" sz="675" dirty="0"/>
          </a:p>
        </p:txBody>
      </p:sp>
      <p:sp>
        <p:nvSpPr>
          <p:cNvPr id="40" name="TextBox 40"/>
          <p:cNvSpPr/>
          <p:nvPr/>
        </p:nvSpPr>
        <p:spPr>
          <a:xfrm>
            <a:off x="2000250" y="3571875"/>
            <a:ext cx="523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675" dirty="0"/>
          </a:p>
        </p:txBody>
      </p:sp>
      <p:sp>
        <p:nvSpPr>
          <p:cNvPr id="41" name="TextBox 41"/>
          <p:cNvSpPr/>
          <p:nvPr/>
        </p:nvSpPr>
        <p:spPr>
          <a:xfrm>
            <a:off x="2524125" y="3571875"/>
            <a:ext cx="523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675" dirty="0"/>
          </a:p>
        </p:txBody>
      </p:sp>
      <p:sp>
        <p:nvSpPr>
          <p:cNvPr id="42" name="TextBox 42"/>
          <p:cNvSpPr/>
          <p:nvPr/>
        </p:nvSpPr>
        <p:spPr>
          <a:xfrm>
            <a:off x="3048000" y="3571875"/>
            <a:ext cx="523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675" dirty="0"/>
          </a:p>
        </p:txBody>
      </p:sp>
      <p:sp>
        <p:nvSpPr>
          <p:cNvPr id="43" name="TextBox 43"/>
          <p:cNvSpPr/>
          <p:nvPr/>
        </p:nvSpPr>
        <p:spPr>
          <a:xfrm>
            <a:off x="3571875" y="3571875"/>
            <a:ext cx="52387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675" dirty="0"/>
          </a:p>
        </p:txBody>
      </p:sp>
      <p:sp>
        <p:nvSpPr>
          <p:cNvPr id="44" name="TextBox 44"/>
          <p:cNvSpPr/>
          <p:nvPr/>
        </p:nvSpPr>
        <p:spPr>
          <a:xfrm>
            <a:off x="571500" y="3771900"/>
            <a:ext cx="133350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750" dirty="0"/>
          </a:p>
        </p:txBody>
      </p:sp>
      <p:sp>
        <p:nvSpPr>
          <p:cNvPr id="45" name="TextBox 45"/>
          <p:cNvSpPr/>
          <p:nvPr/>
        </p:nvSpPr>
        <p:spPr>
          <a:xfrm>
            <a:off x="571500" y="4010025"/>
            <a:ext cx="133350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750" dirty="0"/>
          </a:p>
        </p:txBody>
      </p:sp>
      <p:sp>
        <p:nvSpPr>
          <p:cNvPr id="46" name="TextBox 46"/>
          <p:cNvSpPr/>
          <p:nvPr/>
        </p:nvSpPr>
        <p:spPr>
          <a:xfrm>
            <a:off x="571500" y="4248150"/>
            <a:ext cx="133350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47" name="TextBox 47"/>
          <p:cNvSpPr/>
          <p:nvPr/>
        </p:nvSpPr>
        <p:spPr>
          <a:xfrm>
            <a:off x="4762500" y="3429000"/>
            <a:ext cx="38100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675" b="1" spc="113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GAUGES: HALF-RING ARCS</a:t>
            </a:r>
            <a:endParaRPr lang="en-US" sz="675" dirty="0"/>
          </a:p>
        </p:txBody>
      </p:sp>
      <p:sp>
        <p:nvSpPr>
          <p:cNvPr id="48" name="TextBox 48"/>
          <p:cNvSpPr/>
          <p:nvPr/>
        </p:nvSpPr>
        <p:spPr>
          <a:xfrm>
            <a:off x="4857750" y="3990975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25" dirty="0"/>
          </a:p>
        </p:txBody>
      </p:sp>
      <p:sp>
        <p:nvSpPr>
          <p:cNvPr id="49" name="TextBox 49"/>
          <p:cNvSpPr/>
          <p:nvPr/>
        </p:nvSpPr>
        <p:spPr>
          <a:xfrm>
            <a:off x="4857750" y="41910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delivered</a:t>
            </a:r>
            <a:endParaRPr lang="en-US" sz="675" dirty="0"/>
          </a:p>
        </p:txBody>
      </p:sp>
      <p:sp>
        <p:nvSpPr>
          <p:cNvPr id="50" name="TextBox 50"/>
          <p:cNvSpPr/>
          <p:nvPr/>
        </p:nvSpPr>
        <p:spPr>
          <a:xfrm>
            <a:off x="6096000" y="3990975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125" dirty="0"/>
          </a:p>
        </p:txBody>
      </p:sp>
      <p:sp>
        <p:nvSpPr>
          <p:cNvPr id="51" name="TextBox 51"/>
          <p:cNvSpPr/>
          <p:nvPr/>
        </p:nvSpPr>
        <p:spPr>
          <a:xfrm>
            <a:off x="6096000" y="41910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used</a:t>
            </a:r>
            <a:endParaRPr lang="en-US" sz="675" dirty="0"/>
          </a:p>
        </p:txBody>
      </p:sp>
      <p:sp>
        <p:nvSpPr>
          <p:cNvPr id="52" name="TextBox 52"/>
          <p:cNvSpPr/>
          <p:nvPr/>
        </p:nvSpPr>
        <p:spPr>
          <a:xfrm>
            <a:off x="7334250" y="3990975"/>
            <a:ext cx="952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25" dirty="0"/>
          </a:p>
        </p:txBody>
      </p:sp>
      <p:sp>
        <p:nvSpPr>
          <p:cNvPr id="53" name="TextBox 53"/>
          <p:cNvSpPr/>
          <p:nvPr/>
        </p:nvSpPr>
        <p:spPr>
          <a:xfrm>
            <a:off x="7334250" y="4191000"/>
            <a:ext cx="95250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closed</a:t>
            </a:r>
            <a:endParaRPr lang="en-US" sz="675" dirty="0"/>
          </a:p>
        </p:txBody>
      </p:sp>
      <p:pic>
        <p:nvPicPr>
          <p:cNvPr id="54" name="Picture 5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5" name="TextBox 55"/>
          <p:cNvSpPr/>
          <p:nvPr/>
        </p:nvSpPr>
        <p:spPr>
          <a:xfrm>
            <a:off x="8096250" y="4572000"/>
            <a:ext cx="476250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gallery</dc:title>
  <dc:subject>PptxGenJS Presentation</dc:subject>
  <dc:creator>HTML to PPTX</dc:creator>
  <cp:lastModifiedBy>HTML to PPTX</cp:lastModifiedBy>
  <cp:revision>1</cp:revision>
  <dcterms:created xsi:type="dcterms:W3CDTF">2026-09-16T20:58:39Z</dcterms:created>
  <dcterms:modified xsi:type="dcterms:W3CDTF">2026-09-16T20:58:39Z</dcterms:modified>
</cp:coreProperties>
</file>